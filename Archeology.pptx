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9" r:id="rId3"/>
    <p:sldId id="258" r:id="rId4"/>
    <p:sldId id="267" r:id="rId5"/>
    <p:sldId id="256" r:id="rId6"/>
    <p:sldId id="266" r:id="rId7"/>
    <p:sldId id="268" r:id="rId8"/>
    <p:sldId id="259" r:id="rId9"/>
    <p:sldId id="260" r:id="rId10"/>
    <p:sldId id="262" r:id="rId11"/>
    <p:sldId id="263" r:id="rId12"/>
    <p:sldId id="264" r:id="rId13"/>
    <p:sldId id="265" r:id="rId14"/>
    <p:sldId id="273" r:id="rId15"/>
    <p:sldId id="275" r:id="rId16"/>
    <p:sldId id="287" r:id="rId17"/>
    <p:sldId id="274" r:id="rId18"/>
    <p:sldId id="288" r:id="rId19"/>
    <p:sldId id="286" r:id="rId20"/>
    <p:sldId id="279" r:id="rId21"/>
    <p:sldId id="280" r:id="rId22"/>
    <p:sldId id="281" r:id="rId23"/>
    <p:sldId id="289" r:id="rId24"/>
    <p:sldId id="285" r:id="rId25"/>
    <p:sldId id="290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EB9A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23" autoAdjust="0"/>
    <p:restoredTop sz="94660"/>
  </p:normalViewPr>
  <p:slideViewPr>
    <p:cSldViewPr>
      <p:cViewPr varScale="1">
        <p:scale>
          <a:sx n="67" d="100"/>
          <a:sy n="67" d="100"/>
        </p:scale>
        <p:origin x="-1148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Archeology in Mesopotamia</a:t>
            </a:r>
            <a:endParaRPr lang="de-DE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smtClean="0"/>
              <a:t>Game Design Document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52943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Summary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de-DE" dirty="0" smtClean="0"/>
              <a:t>„Archeology in ...“ is a potential game series about archeology with similar features but different scenarios (e.g. Mesoptamia, Egypt, Greece, Rome, Incas, Stone Age, Modern Archeology). The </a:t>
            </a:r>
            <a:r>
              <a:rPr lang="de-DE" dirty="0"/>
              <a:t>initial game </a:t>
            </a:r>
            <a:r>
              <a:rPr lang="de-DE" dirty="0" smtClean="0"/>
              <a:t>is </a:t>
            </a:r>
            <a:r>
              <a:rPr lang="de-DE" dirty="0"/>
              <a:t>focused on Mesopotamia in the 19th </a:t>
            </a:r>
            <a:r>
              <a:rPr lang="de-DE" dirty="0" smtClean="0"/>
              <a:t>century</a:t>
            </a:r>
          </a:p>
          <a:p>
            <a:endParaRPr lang="de-DE" dirty="0" smtClean="0"/>
          </a:p>
          <a:p>
            <a:r>
              <a:rPr lang="de-DE" dirty="0" smtClean="0"/>
              <a:t>The revenue model is not yet decided:</a:t>
            </a:r>
          </a:p>
          <a:p>
            <a:pPr lvl="1"/>
            <a:r>
              <a:rPr lang="de-DE" dirty="0" smtClean="0"/>
              <a:t>Free Browser / Mobile Game with Micro Transactions</a:t>
            </a:r>
          </a:p>
          <a:p>
            <a:pPr lvl="1"/>
            <a:r>
              <a:rPr lang="de-DE" dirty="0"/>
              <a:t>PC and console </a:t>
            </a:r>
            <a:r>
              <a:rPr lang="de-DE" dirty="0" smtClean="0"/>
              <a:t>release</a:t>
            </a:r>
          </a:p>
          <a:p>
            <a:pPr lvl="1"/>
            <a:r>
              <a:rPr lang="de-DE" dirty="0" smtClean="0"/>
              <a:t>Payed App</a:t>
            </a:r>
          </a:p>
          <a:p>
            <a:pPr lvl="1"/>
            <a:r>
              <a:rPr lang="de-DE" dirty="0" smtClean="0"/>
              <a:t>Physical Board Game Release</a:t>
            </a:r>
          </a:p>
          <a:p>
            <a:pPr lvl="1"/>
            <a:r>
              <a:rPr lang="de-DE" dirty="0" smtClean="0"/>
              <a:t>Physical Collector‘s Edition</a:t>
            </a:r>
          </a:p>
          <a:p>
            <a:r>
              <a:rPr lang="de-DE" dirty="0" smtClean="0"/>
              <a:t>Target devices will depend on the choosen revenue model</a:t>
            </a:r>
          </a:p>
          <a:p>
            <a:r>
              <a:rPr lang="de-DE" dirty="0" smtClean="0"/>
              <a:t>Budget or team is not planned yet, a prototype will be created in my personal freetime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0968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Game Modes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Tutorial</a:t>
            </a:r>
          </a:p>
          <a:p>
            <a:r>
              <a:rPr lang="de-DE" dirty="0" smtClean="0"/>
              <a:t>Story – pre-scripted events</a:t>
            </a:r>
          </a:p>
          <a:p>
            <a:r>
              <a:rPr lang="de-DE" dirty="0" smtClean="0"/>
              <a:t>Endless – no specific goal</a:t>
            </a:r>
          </a:p>
          <a:p>
            <a:r>
              <a:rPr lang="de-DE" dirty="0" smtClean="0"/>
              <a:t>Scenario – specific goal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98243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Tutorial Intro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de-DE" dirty="0" smtClean="0"/>
              <a:t>You are born rich and after finishing university have secured some funding of your family to travel one year to explore Mesopotamia which explorers have shared fantastic stories about.</a:t>
            </a:r>
          </a:p>
          <a:p>
            <a:r>
              <a:rPr lang="de-DE" dirty="0" smtClean="0"/>
              <a:t>Arriving in Bagdad with the famed Orient Express a friend of your father suggests you to check out a small village just 50 miles south.</a:t>
            </a:r>
          </a:p>
          <a:p>
            <a:r>
              <a:rPr lang="de-DE" dirty="0" smtClean="0"/>
              <a:t>Local rumors has it that the small hill next to the village is very old and once belonged to a local chieftain. You have convinced the local population that you are allowed to dig here with some monetary compensation.</a:t>
            </a:r>
          </a:p>
          <a:p>
            <a:r>
              <a:rPr lang="de-DE" dirty="0" smtClean="0"/>
              <a:t>Your fund are already shrinking and you can only afford 5 workers for now to help you excavating this side. Your base is a simple tent where you can store few artifacts.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58386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Diamond 33"/>
          <p:cNvSpPr/>
          <p:nvPr/>
        </p:nvSpPr>
        <p:spPr>
          <a:xfrm>
            <a:off x="1010291" y="3909318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Diamond 34"/>
          <p:cNvSpPr/>
          <p:nvPr/>
        </p:nvSpPr>
        <p:spPr>
          <a:xfrm>
            <a:off x="2229491" y="4348110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Diamond 35"/>
          <p:cNvSpPr/>
          <p:nvPr/>
        </p:nvSpPr>
        <p:spPr>
          <a:xfrm>
            <a:off x="2229491" y="3472666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Diamond 36"/>
          <p:cNvSpPr/>
          <p:nvPr/>
        </p:nvSpPr>
        <p:spPr>
          <a:xfrm>
            <a:off x="3463247" y="3908462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Diamond 37"/>
          <p:cNvSpPr/>
          <p:nvPr/>
        </p:nvSpPr>
        <p:spPr>
          <a:xfrm>
            <a:off x="3473521" y="4780052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Diamond 38"/>
          <p:cNvSpPr/>
          <p:nvPr/>
        </p:nvSpPr>
        <p:spPr>
          <a:xfrm>
            <a:off x="4735103" y="4339548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Diamond 39"/>
          <p:cNvSpPr/>
          <p:nvPr/>
        </p:nvSpPr>
        <p:spPr>
          <a:xfrm>
            <a:off x="3470096" y="3033874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Diamond 40"/>
          <p:cNvSpPr/>
          <p:nvPr/>
        </p:nvSpPr>
        <p:spPr>
          <a:xfrm>
            <a:off x="4689296" y="3472666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Diamond 41"/>
          <p:cNvSpPr/>
          <p:nvPr/>
        </p:nvSpPr>
        <p:spPr>
          <a:xfrm>
            <a:off x="5943600" y="3904608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Diamond 24"/>
          <p:cNvSpPr/>
          <p:nvPr/>
        </p:nvSpPr>
        <p:spPr>
          <a:xfrm>
            <a:off x="1004297" y="3777466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Diamond 25"/>
          <p:cNvSpPr/>
          <p:nvPr/>
        </p:nvSpPr>
        <p:spPr>
          <a:xfrm>
            <a:off x="2223497" y="4216258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Diamond 26"/>
          <p:cNvSpPr/>
          <p:nvPr/>
        </p:nvSpPr>
        <p:spPr>
          <a:xfrm>
            <a:off x="2223497" y="3340814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Diamond 27"/>
          <p:cNvSpPr/>
          <p:nvPr/>
        </p:nvSpPr>
        <p:spPr>
          <a:xfrm>
            <a:off x="3457253" y="3776610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Diamond 28"/>
          <p:cNvSpPr/>
          <p:nvPr/>
        </p:nvSpPr>
        <p:spPr>
          <a:xfrm>
            <a:off x="3467527" y="4648200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Diamond 29"/>
          <p:cNvSpPr/>
          <p:nvPr/>
        </p:nvSpPr>
        <p:spPr>
          <a:xfrm>
            <a:off x="4729109" y="4207696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Diamond 30"/>
          <p:cNvSpPr/>
          <p:nvPr/>
        </p:nvSpPr>
        <p:spPr>
          <a:xfrm>
            <a:off x="3464102" y="2902022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Diamond 31"/>
          <p:cNvSpPr/>
          <p:nvPr/>
        </p:nvSpPr>
        <p:spPr>
          <a:xfrm>
            <a:off x="4683302" y="3340814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Diamond 32"/>
          <p:cNvSpPr/>
          <p:nvPr/>
        </p:nvSpPr>
        <p:spPr>
          <a:xfrm>
            <a:off x="5937606" y="3772756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Diamond 15"/>
          <p:cNvSpPr/>
          <p:nvPr/>
        </p:nvSpPr>
        <p:spPr>
          <a:xfrm>
            <a:off x="1007722" y="3647754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Diamond 16"/>
          <p:cNvSpPr/>
          <p:nvPr/>
        </p:nvSpPr>
        <p:spPr>
          <a:xfrm>
            <a:off x="2226922" y="4086546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Diamond 17"/>
          <p:cNvSpPr/>
          <p:nvPr/>
        </p:nvSpPr>
        <p:spPr>
          <a:xfrm>
            <a:off x="2226922" y="3211102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Diamond 18"/>
          <p:cNvSpPr/>
          <p:nvPr/>
        </p:nvSpPr>
        <p:spPr>
          <a:xfrm>
            <a:off x="3460678" y="3646898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Diamond 19"/>
          <p:cNvSpPr/>
          <p:nvPr/>
        </p:nvSpPr>
        <p:spPr>
          <a:xfrm>
            <a:off x="3470952" y="4518488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Diamond 20"/>
          <p:cNvSpPr/>
          <p:nvPr/>
        </p:nvSpPr>
        <p:spPr>
          <a:xfrm>
            <a:off x="4732534" y="4077984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Diamond 21"/>
          <p:cNvSpPr/>
          <p:nvPr/>
        </p:nvSpPr>
        <p:spPr>
          <a:xfrm>
            <a:off x="3467527" y="2772310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Diamond 22"/>
          <p:cNvSpPr/>
          <p:nvPr/>
        </p:nvSpPr>
        <p:spPr>
          <a:xfrm>
            <a:off x="4686727" y="3211102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Diamond 23"/>
          <p:cNvSpPr/>
          <p:nvPr/>
        </p:nvSpPr>
        <p:spPr>
          <a:xfrm>
            <a:off x="5941031" y="3643044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Diamond 3"/>
          <p:cNvSpPr/>
          <p:nvPr/>
        </p:nvSpPr>
        <p:spPr>
          <a:xfrm>
            <a:off x="975187" y="3524036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Diamond 4"/>
          <p:cNvSpPr/>
          <p:nvPr/>
        </p:nvSpPr>
        <p:spPr>
          <a:xfrm>
            <a:off x="2194387" y="3962828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Diamond 5"/>
          <p:cNvSpPr/>
          <p:nvPr/>
        </p:nvSpPr>
        <p:spPr>
          <a:xfrm>
            <a:off x="2194387" y="3087384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Diamond 6"/>
          <p:cNvSpPr/>
          <p:nvPr/>
        </p:nvSpPr>
        <p:spPr>
          <a:xfrm>
            <a:off x="3428143" y="3523180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Diamond 7"/>
          <p:cNvSpPr/>
          <p:nvPr/>
        </p:nvSpPr>
        <p:spPr>
          <a:xfrm>
            <a:off x="3438417" y="4394770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Diamond 8"/>
          <p:cNvSpPr/>
          <p:nvPr/>
        </p:nvSpPr>
        <p:spPr>
          <a:xfrm>
            <a:off x="4699999" y="3954266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Diamond 9"/>
          <p:cNvSpPr/>
          <p:nvPr/>
        </p:nvSpPr>
        <p:spPr>
          <a:xfrm>
            <a:off x="3434992" y="2648592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Diamond 10"/>
          <p:cNvSpPr/>
          <p:nvPr/>
        </p:nvSpPr>
        <p:spPr>
          <a:xfrm>
            <a:off x="4654192" y="3087384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Diamond 11"/>
          <p:cNvSpPr/>
          <p:nvPr/>
        </p:nvSpPr>
        <p:spPr>
          <a:xfrm>
            <a:off x="5908496" y="3519326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Diamond 42"/>
          <p:cNvSpPr/>
          <p:nvPr/>
        </p:nvSpPr>
        <p:spPr>
          <a:xfrm>
            <a:off x="990600" y="3369496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Diamond 43"/>
          <p:cNvSpPr/>
          <p:nvPr/>
        </p:nvSpPr>
        <p:spPr>
          <a:xfrm>
            <a:off x="2209800" y="3808288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Diamond 44"/>
          <p:cNvSpPr/>
          <p:nvPr/>
        </p:nvSpPr>
        <p:spPr>
          <a:xfrm>
            <a:off x="2209800" y="2932844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Diamond 45"/>
          <p:cNvSpPr/>
          <p:nvPr/>
        </p:nvSpPr>
        <p:spPr>
          <a:xfrm>
            <a:off x="3443556" y="3368640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Diamond 46"/>
          <p:cNvSpPr/>
          <p:nvPr/>
        </p:nvSpPr>
        <p:spPr>
          <a:xfrm>
            <a:off x="3453830" y="4240230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Diamond 47"/>
          <p:cNvSpPr/>
          <p:nvPr/>
        </p:nvSpPr>
        <p:spPr>
          <a:xfrm>
            <a:off x="4715412" y="3799726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Diamond 48"/>
          <p:cNvSpPr/>
          <p:nvPr/>
        </p:nvSpPr>
        <p:spPr>
          <a:xfrm>
            <a:off x="3450405" y="2494052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Diamond 49"/>
          <p:cNvSpPr/>
          <p:nvPr/>
        </p:nvSpPr>
        <p:spPr>
          <a:xfrm>
            <a:off x="4669605" y="2932844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Diamond 50"/>
          <p:cNvSpPr/>
          <p:nvPr/>
        </p:nvSpPr>
        <p:spPr>
          <a:xfrm>
            <a:off x="5923909" y="3364786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Diamond 51"/>
          <p:cNvSpPr/>
          <p:nvPr/>
        </p:nvSpPr>
        <p:spPr>
          <a:xfrm>
            <a:off x="984606" y="3237644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Diamond 52"/>
          <p:cNvSpPr/>
          <p:nvPr/>
        </p:nvSpPr>
        <p:spPr>
          <a:xfrm>
            <a:off x="2203806" y="3676436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Diamond 53"/>
          <p:cNvSpPr/>
          <p:nvPr/>
        </p:nvSpPr>
        <p:spPr>
          <a:xfrm>
            <a:off x="2203806" y="2800992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Diamond 54"/>
          <p:cNvSpPr/>
          <p:nvPr/>
        </p:nvSpPr>
        <p:spPr>
          <a:xfrm>
            <a:off x="3437562" y="3236788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Diamond 55"/>
          <p:cNvSpPr/>
          <p:nvPr/>
        </p:nvSpPr>
        <p:spPr>
          <a:xfrm>
            <a:off x="3447836" y="4108378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Diamond 56"/>
          <p:cNvSpPr/>
          <p:nvPr/>
        </p:nvSpPr>
        <p:spPr>
          <a:xfrm>
            <a:off x="4709418" y="3667874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Diamond 57"/>
          <p:cNvSpPr/>
          <p:nvPr/>
        </p:nvSpPr>
        <p:spPr>
          <a:xfrm>
            <a:off x="3444411" y="2362200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Diamond 58"/>
          <p:cNvSpPr/>
          <p:nvPr/>
        </p:nvSpPr>
        <p:spPr>
          <a:xfrm>
            <a:off x="4663611" y="2800992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Diamond 59"/>
          <p:cNvSpPr/>
          <p:nvPr/>
        </p:nvSpPr>
        <p:spPr>
          <a:xfrm>
            <a:off x="5917915" y="3232934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2" name="Diamond 61"/>
          <p:cNvSpPr/>
          <p:nvPr/>
        </p:nvSpPr>
        <p:spPr>
          <a:xfrm>
            <a:off x="2207231" y="3546724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Diamond 62"/>
          <p:cNvSpPr/>
          <p:nvPr/>
        </p:nvSpPr>
        <p:spPr>
          <a:xfrm>
            <a:off x="2207231" y="2671280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Diamond 63"/>
          <p:cNvSpPr/>
          <p:nvPr/>
        </p:nvSpPr>
        <p:spPr>
          <a:xfrm>
            <a:off x="3440987" y="3107076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6" name="Diamond 65"/>
          <p:cNvSpPr/>
          <p:nvPr/>
        </p:nvSpPr>
        <p:spPr>
          <a:xfrm>
            <a:off x="4712843" y="3538162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8" name="Diamond 67"/>
          <p:cNvSpPr/>
          <p:nvPr/>
        </p:nvSpPr>
        <p:spPr>
          <a:xfrm>
            <a:off x="4667036" y="2671280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3" name="Diamond 72"/>
          <p:cNvSpPr/>
          <p:nvPr/>
        </p:nvSpPr>
        <p:spPr>
          <a:xfrm>
            <a:off x="3408452" y="2983358"/>
            <a:ext cx="2362200" cy="838200"/>
          </a:xfrm>
          <a:prstGeom prst="diamond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9" name="Rectangle 78"/>
          <p:cNvSpPr/>
          <p:nvPr/>
        </p:nvSpPr>
        <p:spPr>
          <a:xfrm>
            <a:off x="152400" y="304800"/>
            <a:ext cx="12192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1"/>
                </a:solidFill>
              </a:rPr>
              <a:t>Surface Collection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152400" y="914400"/>
            <a:ext cx="12192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1"/>
                </a:solidFill>
              </a:rPr>
              <a:t>Excavation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152400" y="1524000"/>
            <a:ext cx="1219200" cy="533400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1"/>
                </a:solidFill>
              </a:rPr>
              <a:t>Trench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82" name="Oval 81"/>
          <p:cNvSpPr/>
          <p:nvPr/>
        </p:nvSpPr>
        <p:spPr>
          <a:xfrm>
            <a:off x="3435933" y="139902"/>
            <a:ext cx="107451" cy="7885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3" name="Flowchart: Delay 82"/>
          <p:cNvSpPr/>
          <p:nvPr/>
        </p:nvSpPr>
        <p:spPr>
          <a:xfrm rot="16200000">
            <a:off x="3426622" y="214797"/>
            <a:ext cx="131424" cy="209550"/>
          </a:xfrm>
          <a:prstGeom prst="flowChartDelay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4" name="TextBox 83"/>
          <p:cNvSpPr txBox="1"/>
          <p:nvPr/>
        </p:nvSpPr>
        <p:spPr>
          <a:xfrm>
            <a:off x="3633925" y="69194"/>
            <a:ext cx="1130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6 Workers</a:t>
            </a:r>
            <a:endParaRPr lang="de-DE" dirty="0"/>
          </a:p>
        </p:txBody>
      </p:sp>
      <p:sp>
        <p:nvSpPr>
          <p:cNvPr id="87" name="TextBox 86"/>
          <p:cNvSpPr txBox="1"/>
          <p:nvPr/>
        </p:nvSpPr>
        <p:spPr>
          <a:xfrm>
            <a:off x="4800922" y="69780"/>
            <a:ext cx="1522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</a:t>
            </a:r>
            <a:r>
              <a:rPr lang="de-DE" dirty="0" smtClean="0"/>
              <a:t> Archeologist</a:t>
            </a:r>
            <a:endParaRPr lang="de-DE" dirty="0"/>
          </a:p>
        </p:txBody>
      </p:sp>
      <p:sp>
        <p:nvSpPr>
          <p:cNvPr id="88" name="Rounded Rectangle 87"/>
          <p:cNvSpPr/>
          <p:nvPr/>
        </p:nvSpPr>
        <p:spPr>
          <a:xfrm>
            <a:off x="457200" y="6019800"/>
            <a:ext cx="457200" cy="381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90" name="Right Triangle 89"/>
          <p:cNvSpPr/>
          <p:nvPr/>
        </p:nvSpPr>
        <p:spPr>
          <a:xfrm>
            <a:off x="525164" y="6067104"/>
            <a:ext cx="152400" cy="286392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1" name="Right Triangle 90"/>
          <p:cNvSpPr/>
          <p:nvPr/>
        </p:nvSpPr>
        <p:spPr>
          <a:xfrm rot="9087724">
            <a:off x="695703" y="6105394"/>
            <a:ext cx="179482" cy="209812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2" name="Oval 91"/>
          <p:cNvSpPr/>
          <p:nvPr/>
        </p:nvSpPr>
        <p:spPr>
          <a:xfrm>
            <a:off x="640548" y="6210300"/>
            <a:ext cx="457200" cy="28724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/>
              <a:t>1</a:t>
            </a:r>
            <a:r>
              <a:rPr lang="de-DE" sz="1000" dirty="0" smtClean="0"/>
              <a:t>5</a:t>
            </a:r>
            <a:endParaRPr lang="de-DE" sz="1000" dirty="0"/>
          </a:p>
        </p:txBody>
      </p:sp>
      <p:sp>
        <p:nvSpPr>
          <p:cNvPr id="93" name="Rounded Rectangle 92"/>
          <p:cNvSpPr/>
          <p:nvPr/>
        </p:nvSpPr>
        <p:spPr>
          <a:xfrm>
            <a:off x="1097748" y="6019800"/>
            <a:ext cx="457200" cy="381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95" name="Rounded Rectangle 94"/>
          <p:cNvSpPr/>
          <p:nvPr/>
        </p:nvSpPr>
        <p:spPr>
          <a:xfrm>
            <a:off x="1217399" y="6060498"/>
            <a:ext cx="217897" cy="31892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6" name="Rounded Rectangle 95"/>
          <p:cNvSpPr/>
          <p:nvPr/>
        </p:nvSpPr>
        <p:spPr>
          <a:xfrm>
            <a:off x="1693988" y="6019800"/>
            <a:ext cx="457200" cy="381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97" name="Oval 96"/>
          <p:cNvSpPr/>
          <p:nvPr/>
        </p:nvSpPr>
        <p:spPr>
          <a:xfrm>
            <a:off x="1859622" y="6138810"/>
            <a:ext cx="134634" cy="144694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9" name="Oval 98"/>
          <p:cNvSpPr/>
          <p:nvPr/>
        </p:nvSpPr>
        <p:spPr>
          <a:xfrm>
            <a:off x="2224509" y="137098"/>
            <a:ext cx="236306" cy="210406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1"/>
                </a:solidFill>
              </a:rPr>
              <a:t>$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2526740" y="57635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1000</a:t>
            </a:r>
            <a:endParaRPr lang="de-DE" dirty="0"/>
          </a:p>
        </p:txBody>
      </p:sp>
      <p:sp>
        <p:nvSpPr>
          <p:cNvPr id="101" name="TextBox 100"/>
          <p:cNvSpPr txBox="1"/>
          <p:nvPr/>
        </p:nvSpPr>
        <p:spPr>
          <a:xfrm>
            <a:off x="6665548" y="57635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36°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57457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33598" y="914400"/>
            <a:ext cx="8681801" cy="5715000"/>
          </a:xfrm>
          <a:prstGeom prst="roundRect">
            <a:avLst>
              <a:gd name="adj" fmla="val 3518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ounded Rectangle 3"/>
          <p:cNvSpPr/>
          <p:nvPr/>
        </p:nvSpPr>
        <p:spPr>
          <a:xfrm>
            <a:off x="417886" y="1052966"/>
            <a:ext cx="801314" cy="69963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5" name="Right Triangle 4"/>
          <p:cNvSpPr/>
          <p:nvPr/>
        </p:nvSpPr>
        <p:spPr>
          <a:xfrm>
            <a:off x="561102" y="1127314"/>
            <a:ext cx="267105" cy="525904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ight Triangle 5"/>
          <p:cNvSpPr/>
          <p:nvPr/>
        </p:nvSpPr>
        <p:spPr>
          <a:xfrm rot="9087724">
            <a:off x="767576" y="1217916"/>
            <a:ext cx="314570" cy="38528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Oval 6"/>
          <p:cNvSpPr/>
          <p:nvPr/>
        </p:nvSpPr>
        <p:spPr>
          <a:xfrm>
            <a:off x="990600" y="1559819"/>
            <a:ext cx="312304" cy="28724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 dirty="0"/>
          </a:p>
        </p:txBody>
      </p:sp>
      <p:sp>
        <p:nvSpPr>
          <p:cNvPr id="8" name="Rounded Rectangle 7"/>
          <p:cNvSpPr/>
          <p:nvPr/>
        </p:nvSpPr>
        <p:spPr>
          <a:xfrm>
            <a:off x="1393764" y="1068514"/>
            <a:ext cx="739835" cy="68408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587382" y="1140004"/>
            <a:ext cx="352598" cy="57263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ounded Rectangle 9"/>
          <p:cNvSpPr/>
          <p:nvPr/>
        </p:nvSpPr>
        <p:spPr>
          <a:xfrm>
            <a:off x="3176511" y="1075362"/>
            <a:ext cx="705829" cy="66731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3342145" y="1346672"/>
            <a:ext cx="387796" cy="183373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26" name="Picture 2" descr="box kostenlos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807" y="148178"/>
            <a:ext cx="533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990600" y="1559819"/>
            <a:ext cx="3289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sz="1050" b="1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5999" y="1060740"/>
            <a:ext cx="739835" cy="68408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228012" y="1193079"/>
            <a:ext cx="2886497" cy="3607521"/>
          </a:xfrm>
          <a:prstGeom prst="roundRect">
            <a:avLst>
              <a:gd name="adj" fmla="val 3518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3" name="Rounded Rectangle 22"/>
          <p:cNvSpPr/>
          <p:nvPr/>
        </p:nvSpPr>
        <p:spPr>
          <a:xfrm>
            <a:off x="4334794" y="1328742"/>
            <a:ext cx="705829" cy="667317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4500428" y="1567934"/>
            <a:ext cx="387796" cy="234584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Box 16"/>
          <p:cNvSpPr txBox="1"/>
          <p:nvPr/>
        </p:nvSpPr>
        <p:spPr>
          <a:xfrm>
            <a:off x="5218611" y="1339234"/>
            <a:ext cx="14954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Artifact</a:t>
            </a:r>
          </a:p>
          <a:p>
            <a:r>
              <a:rPr lang="de-DE" dirty="0" smtClean="0"/>
              <a:t>(Unidentified)</a:t>
            </a:r>
            <a:endParaRPr lang="de-DE" dirty="0"/>
          </a:p>
        </p:txBody>
      </p:sp>
      <p:sp>
        <p:nvSpPr>
          <p:cNvPr id="25" name="TextBox 24"/>
          <p:cNvSpPr txBox="1"/>
          <p:nvPr/>
        </p:nvSpPr>
        <p:spPr>
          <a:xfrm>
            <a:off x="4331551" y="2172819"/>
            <a:ext cx="1976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Provenience: Site 1</a:t>
            </a:r>
            <a:endParaRPr lang="de-DE" dirty="0"/>
          </a:p>
        </p:txBody>
      </p:sp>
      <p:sp>
        <p:nvSpPr>
          <p:cNvPr id="28" name="TextBox 27"/>
          <p:cNvSpPr txBox="1"/>
          <p:nvPr/>
        </p:nvSpPr>
        <p:spPr>
          <a:xfrm>
            <a:off x="4336359" y="2565019"/>
            <a:ext cx="1658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Style: Unknown</a:t>
            </a:r>
            <a:endParaRPr lang="de-DE" dirty="0"/>
          </a:p>
        </p:txBody>
      </p:sp>
      <p:sp>
        <p:nvSpPr>
          <p:cNvPr id="29" name="TextBox 28"/>
          <p:cNvSpPr txBox="1"/>
          <p:nvPr/>
        </p:nvSpPr>
        <p:spPr>
          <a:xfrm>
            <a:off x="4367664" y="3353679"/>
            <a:ext cx="1558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Age: Unknown</a:t>
            </a:r>
            <a:endParaRPr lang="de-DE" dirty="0"/>
          </a:p>
        </p:txBody>
      </p:sp>
      <p:sp>
        <p:nvSpPr>
          <p:cNvPr id="31" name="TextBox 30"/>
          <p:cNvSpPr txBox="1"/>
          <p:nvPr/>
        </p:nvSpPr>
        <p:spPr>
          <a:xfrm>
            <a:off x="4341223" y="2961011"/>
            <a:ext cx="1534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Material: Gold</a:t>
            </a:r>
            <a:endParaRPr lang="de-DE" dirty="0"/>
          </a:p>
        </p:txBody>
      </p:sp>
      <p:sp>
        <p:nvSpPr>
          <p:cNvPr id="32" name="Rounded Rectangle 31"/>
          <p:cNvSpPr/>
          <p:nvPr/>
        </p:nvSpPr>
        <p:spPr>
          <a:xfrm>
            <a:off x="766998" y="2098492"/>
            <a:ext cx="2929137" cy="4337416"/>
          </a:xfrm>
          <a:prstGeom prst="roundRect">
            <a:avLst>
              <a:gd name="adj" fmla="val 3518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5" name="TextBox 34"/>
          <p:cNvSpPr txBox="1"/>
          <p:nvPr/>
        </p:nvSpPr>
        <p:spPr>
          <a:xfrm>
            <a:off x="1757597" y="2244647"/>
            <a:ext cx="1531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Stamped Brick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0537" y="3078232"/>
            <a:ext cx="1976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Provenience: Site 1</a:t>
            </a:r>
            <a:endParaRPr lang="de-DE" dirty="0"/>
          </a:p>
        </p:txBody>
      </p:sp>
      <p:sp>
        <p:nvSpPr>
          <p:cNvPr id="37" name="TextBox 36"/>
          <p:cNvSpPr txBox="1"/>
          <p:nvPr/>
        </p:nvSpPr>
        <p:spPr>
          <a:xfrm>
            <a:off x="875345" y="3470432"/>
            <a:ext cx="2105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Style: Neo-Sumerian</a:t>
            </a:r>
            <a:endParaRPr lang="de-DE" dirty="0"/>
          </a:p>
        </p:txBody>
      </p:sp>
      <p:sp>
        <p:nvSpPr>
          <p:cNvPr id="38" name="TextBox 37"/>
          <p:cNvSpPr txBox="1"/>
          <p:nvPr/>
        </p:nvSpPr>
        <p:spPr>
          <a:xfrm>
            <a:off x="906650" y="4259092"/>
            <a:ext cx="110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Age: Ur III</a:t>
            </a:r>
            <a:endParaRPr lang="de-DE" dirty="0"/>
          </a:p>
        </p:txBody>
      </p:sp>
      <p:sp>
        <p:nvSpPr>
          <p:cNvPr id="39" name="TextBox 38"/>
          <p:cNvSpPr txBox="1"/>
          <p:nvPr/>
        </p:nvSpPr>
        <p:spPr>
          <a:xfrm>
            <a:off x="902499" y="4652425"/>
            <a:ext cx="27165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Inscription:  Royal Building </a:t>
            </a:r>
          </a:p>
          <a:p>
            <a:r>
              <a:rPr lang="de-DE" dirty="0" smtClean="0"/>
              <a:t>Inscription</a:t>
            </a:r>
            <a:endParaRPr lang="de-DE" dirty="0"/>
          </a:p>
        </p:txBody>
      </p:sp>
      <p:sp>
        <p:nvSpPr>
          <p:cNvPr id="40" name="TextBox 39"/>
          <p:cNvSpPr txBox="1"/>
          <p:nvPr/>
        </p:nvSpPr>
        <p:spPr>
          <a:xfrm>
            <a:off x="880209" y="3866424"/>
            <a:ext cx="1478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Material: Clay</a:t>
            </a:r>
            <a:endParaRPr lang="de-DE" dirty="0"/>
          </a:p>
        </p:txBody>
      </p:sp>
      <p:sp>
        <p:nvSpPr>
          <p:cNvPr id="42" name="TextBox 41"/>
          <p:cNvSpPr txBox="1"/>
          <p:nvPr/>
        </p:nvSpPr>
        <p:spPr>
          <a:xfrm>
            <a:off x="4367664" y="3762498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Value:  $10</a:t>
            </a:r>
            <a:endParaRPr lang="de-DE" dirty="0"/>
          </a:p>
        </p:txBody>
      </p:sp>
      <p:sp>
        <p:nvSpPr>
          <p:cNvPr id="43" name="TextBox 42"/>
          <p:cNvSpPr txBox="1"/>
          <p:nvPr/>
        </p:nvSpPr>
        <p:spPr>
          <a:xfrm>
            <a:off x="912592" y="5290390"/>
            <a:ext cx="1340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Value:  $100</a:t>
            </a:r>
            <a:endParaRPr lang="de-DE" dirty="0"/>
          </a:p>
        </p:txBody>
      </p:sp>
      <p:sp>
        <p:nvSpPr>
          <p:cNvPr id="44" name="Rounded Rectangle 43"/>
          <p:cNvSpPr/>
          <p:nvPr/>
        </p:nvSpPr>
        <p:spPr>
          <a:xfrm>
            <a:off x="900871" y="2225769"/>
            <a:ext cx="739835" cy="68408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1094489" y="2297259"/>
            <a:ext cx="352598" cy="57263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TextBox 45"/>
          <p:cNvSpPr txBox="1"/>
          <p:nvPr/>
        </p:nvSpPr>
        <p:spPr>
          <a:xfrm>
            <a:off x="949490" y="5674111"/>
            <a:ext cx="2696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+2 Mentioning ruler</a:t>
            </a:r>
          </a:p>
          <a:p>
            <a:r>
              <a:rPr lang="de-DE" dirty="0" smtClean="0"/>
              <a:t>+1 Mentioning place name</a:t>
            </a:r>
            <a:endParaRPr lang="de-DE" dirty="0"/>
          </a:p>
        </p:txBody>
      </p:sp>
      <p:pic>
        <p:nvPicPr>
          <p:cNvPr id="1032" name="Picture 8" descr="Dinar - Free logo icon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881" y="128943"/>
            <a:ext cx="485638" cy="485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TextBox 47"/>
          <p:cNvSpPr txBox="1"/>
          <p:nvPr/>
        </p:nvSpPr>
        <p:spPr>
          <a:xfrm>
            <a:off x="2297519" y="199205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1000</a:t>
            </a:r>
            <a:endParaRPr lang="de-DE" dirty="0"/>
          </a:p>
        </p:txBody>
      </p:sp>
      <p:pic>
        <p:nvPicPr>
          <p:cNvPr id="1034" name="Picture 10" descr="Shovel - Free construction and tools icon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0737" y="119093"/>
            <a:ext cx="473807" cy="473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Box 49"/>
          <p:cNvSpPr txBox="1"/>
          <p:nvPr/>
        </p:nvSpPr>
        <p:spPr>
          <a:xfrm>
            <a:off x="3619077" y="189302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1/5</a:t>
            </a:r>
            <a:endParaRPr lang="de-DE" dirty="0"/>
          </a:p>
        </p:txBody>
      </p:sp>
      <p:pic>
        <p:nvPicPr>
          <p:cNvPr id="1036" name="Picture 12" descr="Thermometer - Free weather icon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1187" y="80049"/>
            <a:ext cx="497562" cy="49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TextBox 51"/>
          <p:cNvSpPr txBox="1"/>
          <p:nvPr/>
        </p:nvSpPr>
        <p:spPr>
          <a:xfrm>
            <a:off x="5870174" y="144217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36°</a:t>
            </a:r>
            <a:endParaRPr lang="de-DE" dirty="0"/>
          </a:p>
        </p:txBody>
      </p:sp>
      <p:sp>
        <p:nvSpPr>
          <p:cNvPr id="53" name="TextBox 52"/>
          <p:cNvSpPr txBox="1"/>
          <p:nvPr/>
        </p:nvSpPr>
        <p:spPr>
          <a:xfrm>
            <a:off x="828207" y="18847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10 / 20</a:t>
            </a:r>
            <a:endParaRPr lang="de-DE" dirty="0"/>
          </a:p>
        </p:txBody>
      </p:sp>
      <p:pic>
        <p:nvPicPr>
          <p:cNvPr id="1038" name="Picture 14" descr="Archeology - Free user icon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4347" y="46140"/>
            <a:ext cx="558591" cy="558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/>
          <p:cNvSpPr txBox="1"/>
          <p:nvPr/>
        </p:nvSpPr>
        <p:spPr>
          <a:xfrm>
            <a:off x="4786386" y="189302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0/1</a:t>
            </a:r>
            <a:endParaRPr lang="de-DE" dirty="0"/>
          </a:p>
        </p:txBody>
      </p:sp>
      <p:pic>
        <p:nvPicPr>
          <p:cNvPr id="1042" name="Picture 18" descr="City Map Flat Illustration. Travel Guide Map Flat Icon Stock Vector -  Illustration of design, concept: 119974837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15" t="22159" r="13514" b="19887"/>
          <a:stretch/>
        </p:blipFill>
        <p:spPr bwMode="auto">
          <a:xfrm>
            <a:off x="6519826" y="58662"/>
            <a:ext cx="695253" cy="564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Open Letter Flat Icon - SuperAwesomeVectors | Flat icon, Lettering, Free  vector graphic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8026" y="7876"/>
            <a:ext cx="908545" cy="641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Museum - Kostenlose gebäude Icons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135" y="97556"/>
            <a:ext cx="572629" cy="572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extBox 59"/>
          <p:cNvSpPr txBox="1"/>
          <p:nvPr/>
        </p:nvSpPr>
        <p:spPr>
          <a:xfrm>
            <a:off x="4368757" y="4118142"/>
            <a:ext cx="2745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Part of Set: The Local Chief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50406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2" descr="Museum - Kostenlose gebäude Ic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97556"/>
            <a:ext cx="572629" cy="572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The Museum</a:t>
            </a:r>
            <a:endParaRPr lang="de-DE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e-DE" dirty="0" smtClean="0"/>
              <a:t>Place to display artifacts in home country</a:t>
            </a:r>
          </a:p>
          <a:p>
            <a:r>
              <a:rPr lang="de-DE" dirty="0" smtClean="0"/>
              <a:t>Can be upgraded from small museum exhibition, large museum exhibition, museum highlight</a:t>
            </a:r>
          </a:p>
          <a:p>
            <a:r>
              <a:rPr lang="de-DE" dirty="0" smtClean="0"/>
              <a:t>Upgrades costs money</a:t>
            </a:r>
          </a:p>
          <a:p>
            <a:r>
              <a:rPr lang="de-DE" dirty="0" smtClean="0"/>
              <a:t>Each type of collection has several slots that need to be filled to upgrade the collection with artifacts of certain attributes (e.g. museum highlight requires legendary artifact)</a:t>
            </a:r>
          </a:p>
          <a:p>
            <a:r>
              <a:rPr lang="de-DE" dirty="0" smtClean="0"/>
              <a:t>More valuable artifacts and artifact sets attract more visitors</a:t>
            </a:r>
          </a:p>
          <a:p>
            <a:r>
              <a:rPr lang="de-DE" dirty="0" smtClean="0"/>
              <a:t>Visitors generate money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52917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Artifacts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Artifacts have different rarity: Common (Gray), Uncommon (Green), Rare (Blue), Very Rare (Purple), Legendary (Orange)</a:t>
            </a:r>
          </a:p>
          <a:p>
            <a:r>
              <a:rPr lang="de-DE" dirty="0"/>
              <a:t>Artifacts </a:t>
            </a:r>
            <a:r>
              <a:rPr lang="de-DE" dirty="0" smtClean="0"/>
              <a:t>are of different types: Shards, Statues, Cuneiform Tablets, Cylinder Seals, Bones, Jewelry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30886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Sources of income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Funding</a:t>
            </a:r>
          </a:p>
          <a:p>
            <a:r>
              <a:rPr lang="de-DE" dirty="0" smtClean="0"/>
              <a:t>Selling Artifacts</a:t>
            </a:r>
          </a:p>
          <a:p>
            <a:r>
              <a:rPr lang="de-DE" dirty="0" smtClean="0"/>
              <a:t>Museum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71220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Roles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Overseer – hire workers</a:t>
            </a:r>
          </a:p>
          <a:p>
            <a:r>
              <a:rPr lang="de-DE" dirty="0" smtClean="0"/>
              <a:t>Worker – dig</a:t>
            </a:r>
          </a:p>
          <a:p>
            <a:r>
              <a:rPr lang="de-DE" dirty="0" smtClean="0"/>
              <a:t>Archeologist – identify artifacts, evaluate tiles</a:t>
            </a:r>
          </a:p>
          <a:p>
            <a:r>
              <a:rPr lang="de-DE" dirty="0" smtClean="0"/>
              <a:t>Linguist – decipher cuneiform tablets</a:t>
            </a:r>
          </a:p>
          <a:p>
            <a:r>
              <a:rPr lang="de-DE" dirty="0" smtClean="0"/>
              <a:t>(Biologist </a:t>
            </a:r>
            <a:r>
              <a:rPr lang="de-DE" dirty="0"/>
              <a:t>– identify human, animal or plant </a:t>
            </a:r>
            <a:r>
              <a:rPr lang="de-DE" dirty="0" smtClean="0"/>
              <a:t>remains)</a:t>
            </a:r>
          </a:p>
          <a:p>
            <a:r>
              <a:rPr lang="de-DE" dirty="0" smtClean="0"/>
              <a:t>(Guard – protects the excavation)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94678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Map Screen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See all excavation sites</a:t>
            </a:r>
          </a:p>
          <a:p>
            <a:r>
              <a:rPr lang="de-DE" dirty="0" smtClean="0"/>
              <a:t>Start soundings</a:t>
            </a:r>
          </a:p>
          <a:p>
            <a:r>
              <a:rPr lang="de-DE" dirty="0" smtClean="0"/>
              <a:t>Manage transports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66629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Excavation Screen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See one excavation sites</a:t>
            </a:r>
          </a:p>
          <a:p>
            <a:r>
              <a:rPr lang="de-DE" dirty="0" smtClean="0"/>
              <a:t>Manage excavation</a:t>
            </a:r>
          </a:p>
          <a:p>
            <a:endParaRPr lang="de-DE" dirty="0" smtClean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25123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Data Model</a:t>
            </a:r>
            <a:endParaRPr lang="de-DE" dirty="0"/>
          </a:p>
        </p:txBody>
      </p:sp>
      <p:sp>
        <p:nvSpPr>
          <p:cNvPr id="4" name="Rectangle 3"/>
          <p:cNvSpPr/>
          <p:nvPr/>
        </p:nvSpPr>
        <p:spPr>
          <a:xfrm>
            <a:off x="4191000" y="1466850"/>
            <a:ext cx="1371600" cy="192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smtClean="0">
                <a:solidFill>
                  <a:schemeClr val="tx1"/>
                </a:solidFill>
              </a:rPr>
              <a:t>Site</a:t>
            </a:r>
          </a:p>
          <a:p>
            <a:pPr algn="ctr"/>
            <a:endParaRPr lang="de-DE" sz="1200" dirty="0">
              <a:solidFill>
                <a:schemeClr val="tx1"/>
              </a:solidFill>
            </a:endParaRP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Size</a:t>
            </a: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Map Location</a:t>
            </a: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Discovered</a:t>
            </a:r>
            <a:r>
              <a:rPr lang="de-DE" sz="1200" dirty="0" smtClean="0">
                <a:solidFill>
                  <a:schemeClr val="tx1"/>
                </a:solidFill>
              </a:rPr>
              <a:t>?</a:t>
            </a:r>
          </a:p>
          <a:p>
            <a:pPr algn="ctr"/>
            <a:r>
              <a:rPr lang="de-DE" sz="1200" dirty="0" smtClean="0">
                <a:solidFill>
                  <a:schemeClr val="tx1"/>
                </a:solidFill>
              </a:rPr>
              <a:t>Excavation started?</a:t>
            </a:r>
          </a:p>
          <a:p>
            <a:pPr algn="ctr"/>
            <a:r>
              <a:rPr lang="de-DE" sz="1200" dirty="0" smtClean="0">
                <a:solidFill>
                  <a:schemeClr val="tx1"/>
                </a:solidFill>
              </a:rPr>
              <a:t>Workers</a:t>
            </a:r>
          </a:p>
          <a:p>
            <a:pPr algn="ctr"/>
            <a:r>
              <a:rPr lang="de-DE" sz="1200" dirty="0" smtClean="0">
                <a:solidFill>
                  <a:schemeClr val="tx1"/>
                </a:solidFill>
              </a:rPr>
              <a:t>Archeologists</a:t>
            </a:r>
          </a:p>
          <a:p>
            <a:pPr algn="ctr"/>
            <a:r>
              <a:rPr lang="de-DE" sz="1200" dirty="0" smtClean="0">
                <a:solidFill>
                  <a:schemeClr val="tx1"/>
                </a:solidFill>
              </a:rPr>
              <a:t>Linguists</a:t>
            </a:r>
            <a:endParaRPr lang="de-DE" sz="12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52550" y="2066925"/>
            <a:ext cx="1371600" cy="7238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smtClean="0">
                <a:solidFill>
                  <a:schemeClr val="tx1"/>
                </a:solidFill>
              </a:rPr>
              <a:t>Player</a:t>
            </a:r>
          </a:p>
          <a:p>
            <a:pPr algn="ctr"/>
            <a:endParaRPr lang="de-DE" sz="1200" dirty="0">
              <a:solidFill>
                <a:schemeClr val="tx1"/>
              </a:solidFill>
            </a:endParaRPr>
          </a:p>
          <a:p>
            <a:pPr algn="ctr"/>
            <a:r>
              <a:rPr lang="de-DE" sz="1200" dirty="0" smtClean="0">
                <a:solidFill>
                  <a:schemeClr val="tx1"/>
                </a:solidFill>
              </a:rPr>
              <a:t>Money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91000" y="5105400"/>
            <a:ext cx="1371600" cy="14859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smtClean="0">
                <a:solidFill>
                  <a:schemeClr val="tx1"/>
                </a:solidFill>
              </a:rPr>
              <a:t>Artefact</a:t>
            </a:r>
          </a:p>
          <a:p>
            <a:pPr algn="ctr"/>
            <a:endParaRPr lang="de-DE" sz="1200" dirty="0">
              <a:solidFill>
                <a:schemeClr val="tx1"/>
              </a:solidFill>
            </a:endParaRPr>
          </a:p>
          <a:p>
            <a:pPr algn="ctr"/>
            <a:r>
              <a:rPr lang="de-DE" sz="1200" dirty="0" smtClean="0">
                <a:solidFill>
                  <a:schemeClr val="tx1"/>
                </a:solidFill>
              </a:rPr>
              <a:t>Name</a:t>
            </a:r>
          </a:p>
          <a:p>
            <a:pPr algn="ctr"/>
            <a:r>
              <a:rPr lang="de-DE" sz="1200" dirty="0" smtClean="0">
                <a:solidFill>
                  <a:schemeClr val="tx1"/>
                </a:solidFill>
              </a:rPr>
              <a:t>Type</a:t>
            </a:r>
          </a:p>
          <a:p>
            <a:pPr algn="ctr"/>
            <a:r>
              <a:rPr lang="de-DE" sz="1200" dirty="0" smtClean="0">
                <a:solidFill>
                  <a:schemeClr val="tx1"/>
                </a:solidFill>
              </a:rPr>
              <a:t>Rarity</a:t>
            </a:r>
          </a:p>
          <a:p>
            <a:pPr algn="ctr"/>
            <a:r>
              <a:rPr lang="de-DE" sz="1200" dirty="0" smtClean="0">
                <a:solidFill>
                  <a:schemeClr val="tx1"/>
                </a:solidFill>
              </a:rPr>
              <a:t>Value</a:t>
            </a:r>
          </a:p>
          <a:p>
            <a:pPr algn="ctr"/>
            <a:r>
              <a:rPr lang="de-DE" sz="1200" dirty="0" smtClean="0">
                <a:solidFill>
                  <a:schemeClr val="tx1"/>
                </a:solidFill>
              </a:rPr>
              <a:t>Identified?</a:t>
            </a:r>
            <a:endParaRPr lang="de-DE" sz="12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191000" y="3619500"/>
            <a:ext cx="1371600" cy="1257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Tile</a:t>
            </a:r>
          </a:p>
          <a:p>
            <a:pPr algn="ctr"/>
            <a:endParaRPr lang="de-DE" sz="1200" dirty="0">
              <a:solidFill>
                <a:schemeClr val="tx1"/>
              </a:solidFill>
            </a:endParaRP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Position</a:t>
            </a: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Layer</a:t>
            </a: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Structure</a:t>
            </a:r>
          </a:p>
          <a:p>
            <a:pPr algn="ctr"/>
            <a:endParaRPr lang="de-DE" sz="1200" dirty="0">
              <a:solidFill>
                <a:schemeClr val="tx1"/>
              </a:solidFill>
            </a:endParaRPr>
          </a:p>
        </p:txBody>
      </p:sp>
      <p:cxnSp>
        <p:nvCxnSpPr>
          <p:cNvPr id="13" name="Straight Connector 12"/>
          <p:cNvCxnSpPr>
            <a:stCxn id="4" idx="2"/>
            <a:endCxn id="7" idx="0"/>
          </p:cNvCxnSpPr>
          <p:nvPr/>
        </p:nvCxnSpPr>
        <p:spPr>
          <a:xfrm>
            <a:off x="4876800" y="3390900"/>
            <a:ext cx="0" cy="228600"/>
          </a:xfrm>
          <a:prstGeom prst="line">
            <a:avLst/>
          </a:prstGeom>
          <a:noFill/>
          <a:ln>
            <a:solidFill>
              <a:schemeClr val="tx1"/>
            </a:solidFill>
            <a:tailEnd type="diamond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" name="Straight Connector 26"/>
          <p:cNvCxnSpPr>
            <a:stCxn id="5" idx="3"/>
            <a:endCxn id="4" idx="1"/>
          </p:cNvCxnSpPr>
          <p:nvPr/>
        </p:nvCxnSpPr>
        <p:spPr>
          <a:xfrm>
            <a:off x="2724150" y="2428875"/>
            <a:ext cx="1466850" cy="0"/>
          </a:xfrm>
          <a:prstGeom prst="line">
            <a:avLst/>
          </a:prstGeom>
          <a:noFill/>
          <a:ln>
            <a:solidFill>
              <a:schemeClr val="tx1"/>
            </a:solidFill>
            <a:tailEnd type="diamond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0" name="Straight Connector 29"/>
          <p:cNvCxnSpPr>
            <a:stCxn id="7" idx="2"/>
            <a:endCxn id="6" idx="0"/>
          </p:cNvCxnSpPr>
          <p:nvPr/>
        </p:nvCxnSpPr>
        <p:spPr>
          <a:xfrm>
            <a:off x="4876800" y="4876800"/>
            <a:ext cx="0" cy="228600"/>
          </a:xfrm>
          <a:prstGeom prst="line">
            <a:avLst/>
          </a:prstGeom>
          <a:noFill/>
          <a:ln>
            <a:solidFill>
              <a:schemeClr val="tx1"/>
            </a:solidFill>
            <a:tailEnd type="diamond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5" name="Rectangle 54"/>
          <p:cNvSpPr/>
          <p:nvPr/>
        </p:nvSpPr>
        <p:spPr>
          <a:xfrm>
            <a:off x="1352550" y="3402806"/>
            <a:ext cx="1371600" cy="16906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smtClean="0">
                <a:solidFill>
                  <a:schemeClr val="tx1"/>
                </a:solidFill>
              </a:rPr>
              <a:t>Task</a:t>
            </a:r>
          </a:p>
          <a:p>
            <a:pPr algn="ctr"/>
            <a:endParaRPr lang="de-DE" sz="1200" b="1" dirty="0">
              <a:solidFill>
                <a:schemeClr val="tx1"/>
              </a:solidFill>
            </a:endParaRPr>
          </a:p>
          <a:p>
            <a:pPr algn="ctr"/>
            <a:r>
              <a:rPr lang="de-DE" sz="1200" dirty="0" smtClean="0">
                <a:solidFill>
                  <a:schemeClr val="tx1"/>
                </a:solidFill>
              </a:rPr>
              <a:t>Type</a:t>
            </a:r>
          </a:p>
          <a:p>
            <a:pPr algn="ctr"/>
            <a:r>
              <a:rPr lang="de-DE" sz="1200" dirty="0" smtClean="0">
                <a:solidFill>
                  <a:schemeClr val="tx1"/>
                </a:solidFill>
              </a:rPr>
              <a:t>Start</a:t>
            </a:r>
          </a:p>
          <a:p>
            <a:pPr algn="ctr"/>
            <a:r>
              <a:rPr lang="de-DE" sz="1200" dirty="0" smtClean="0">
                <a:solidFill>
                  <a:schemeClr val="tx1"/>
                </a:solidFill>
              </a:rPr>
              <a:t>End</a:t>
            </a:r>
          </a:p>
          <a:p>
            <a:pPr algn="ctr"/>
            <a:r>
              <a:rPr lang="de-DE" sz="1200" dirty="0" smtClean="0">
                <a:solidFill>
                  <a:schemeClr val="tx1"/>
                </a:solidFill>
              </a:rPr>
              <a:t>Workers</a:t>
            </a:r>
          </a:p>
          <a:p>
            <a:pPr algn="ctr"/>
            <a:r>
              <a:rPr lang="de-DE" sz="1200" dirty="0" smtClean="0">
                <a:solidFill>
                  <a:schemeClr val="tx1"/>
                </a:solidFill>
              </a:rPr>
              <a:t>Archeologists</a:t>
            </a:r>
          </a:p>
          <a:p>
            <a:pPr algn="ctr"/>
            <a:r>
              <a:rPr lang="de-DE" sz="1200" dirty="0" smtClean="0">
                <a:solidFill>
                  <a:schemeClr val="tx1"/>
                </a:solidFill>
              </a:rPr>
              <a:t>Linguists</a:t>
            </a:r>
            <a:endParaRPr lang="de-DE" sz="1200" dirty="0">
              <a:solidFill>
                <a:schemeClr val="tx1"/>
              </a:solidFill>
            </a:endParaRPr>
          </a:p>
        </p:txBody>
      </p:sp>
      <p:cxnSp>
        <p:nvCxnSpPr>
          <p:cNvPr id="70" name="Straight Connector 69"/>
          <p:cNvCxnSpPr>
            <a:stCxn id="7" idx="1"/>
            <a:endCxn id="55" idx="3"/>
          </p:cNvCxnSpPr>
          <p:nvPr/>
        </p:nvCxnSpPr>
        <p:spPr>
          <a:xfrm flipH="1">
            <a:off x="2724150" y="4248150"/>
            <a:ext cx="1466850" cy="0"/>
          </a:xfrm>
          <a:prstGeom prst="line">
            <a:avLst/>
          </a:prstGeom>
          <a:noFill/>
          <a:ln>
            <a:solidFill>
              <a:schemeClr val="tx1"/>
            </a:solidFill>
            <a:prstDash val="sysDash"/>
            <a:headEnd type="diamond" w="lg" len="lg"/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6" name="Straight Connector 175"/>
          <p:cNvCxnSpPr>
            <a:stCxn id="4" idx="3"/>
            <a:endCxn id="6" idx="3"/>
          </p:cNvCxnSpPr>
          <p:nvPr/>
        </p:nvCxnSpPr>
        <p:spPr>
          <a:xfrm>
            <a:off x="5562600" y="2428875"/>
            <a:ext cx="12700" cy="3419475"/>
          </a:xfrm>
          <a:prstGeom prst="bentConnector3">
            <a:avLst>
              <a:gd name="adj1" fmla="val 5850000"/>
            </a:avLst>
          </a:prstGeom>
          <a:noFill/>
          <a:ln>
            <a:solidFill>
              <a:schemeClr val="tx1"/>
            </a:solidFill>
            <a:tailEnd type="diamond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1" name="Straight Connector 190"/>
          <p:cNvCxnSpPr>
            <a:stCxn id="55" idx="0"/>
            <a:endCxn id="5" idx="2"/>
          </p:cNvCxnSpPr>
          <p:nvPr/>
        </p:nvCxnSpPr>
        <p:spPr>
          <a:xfrm flipV="1">
            <a:off x="2038350" y="2790824"/>
            <a:ext cx="0" cy="611982"/>
          </a:xfrm>
          <a:prstGeom prst="line">
            <a:avLst/>
          </a:prstGeom>
          <a:noFill/>
          <a:ln>
            <a:solidFill>
              <a:schemeClr val="tx1"/>
            </a:solidFill>
            <a:headEnd type="diamond" w="lg" len="lg"/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4" name="Straight Connector 193"/>
          <p:cNvCxnSpPr>
            <a:stCxn id="6" idx="1"/>
            <a:endCxn id="55" idx="3"/>
          </p:cNvCxnSpPr>
          <p:nvPr/>
        </p:nvCxnSpPr>
        <p:spPr>
          <a:xfrm flipH="1" flipV="1">
            <a:off x="2724150" y="4248150"/>
            <a:ext cx="1466850" cy="1600200"/>
          </a:xfrm>
          <a:prstGeom prst="line">
            <a:avLst/>
          </a:prstGeom>
          <a:noFill/>
          <a:ln>
            <a:solidFill>
              <a:schemeClr val="tx1"/>
            </a:solidFill>
            <a:prstDash val="sysDash"/>
            <a:headEnd type="none" w="lg" len="lg"/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7" name="Straight Connector 196"/>
          <p:cNvCxnSpPr>
            <a:stCxn id="4" idx="1"/>
            <a:endCxn id="55" idx="3"/>
          </p:cNvCxnSpPr>
          <p:nvPr/>
        </p:nvCxnSpPr>
        <p:spPr>
          <a:xfrm flipH="1">
            <a:off x="2724150" y="2428875"/>
            <a:ext cx="1466850" cy="1819275"/>
          </a:xfrm>
          <a:prstGeom prst="line">
            <a:avLst/>
          </a:prstGeom>
          <a:noFill/>
          <a:ln>
            <a:solidFill>
              <a:schemeClr val="tx1"/>
            </a:solidFill>
            <a:prstDash val="sysDash"/>
            <a:headEnd type="diamond" w="lg" len="lg"/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533556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381000" y="304800"/>
            <a:ext cx="1962150" cy="29718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ounded Rectangle 5"/>
          <p:cNvSpPr/>
          <p:nvPr/>
        </p:nvSpPr>
        <p:spPr>
          <a:xfrm>
            <a:off x="2524125" y="304800"/>
            <a:ext cx="1962150" cy="29718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ounded Rectangle 6"/>
          <p:cNvSpPr/>
          <p:nvPr/>
        </p:nvSpPr>
        <p:spPr>
          <a:xfrm>
            <a:off x="4686300" y="304800"/>
            <a:ext cx="1962150" cy="29718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ounded Rectangle 7"/>
          <p:cNvSpPr/>
          <p:nvPr/>
        </p:nvSpPr>
        <p:spPr>
          <a:xfrm>
            <a:off x="6819900" y="304800"/>
            <a:ext cx="1962150" cy="29718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ounded Rectangle 8"/>
          <p:cNvSpPr/>
          <p:nvPr/>
        </p:nvSpPr>
        <p:spPr>
          <a:xfrm>
            <a:off x="381000" y="3438525"/>
            <a:ext cx="1962150" cy="29718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ounded Rectangle 9"/>
          <p:cNvSpPr/>
          <p:nvPr/>
        </p:nvSpPr>
        <p:spPr>
          <a:xfrm>
            <a:off x="2524125" y="3438525"/>
            <a:ext cx="1962150" cy="29718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ounded Rectangle 10"/>
          <p:cNvSpPr/>
          <p:nvPr/>
        </p:nvSpPr>
        <p:spPr>
          <a:xfrm>
            <a:off x="4686300" y="3438525"/>
            <a:ext cx="1962150" cy="29718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ounded Rectangle 11"/>
          <p:cNvSpPr/>
          <p:nvPr/>
        </p:nvSpPr>
        <p:spPr>
          <a:xfrm>
            <a:off x="6819900" y="3438525"/>
            <a:ext cx="1962150" cy="29718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tangle 12"/>
          <p:cNvSpPr/>
          <p:nvPr/>
        </p:nvSpPr>
        <p:spPr>
          <a:xfrm rot="1056688">
            <a:off x="539417" y="692751"/>
            <a:ext cx="1645316" cy="178907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Box 13"/>
          <p:cNvSpPr txBox="1"/>
          <p:nvPr/>
        </p:nvSpPr>
        <p:spPr>
          <a:xfrm>
            <a:off x="426723" y="2817692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 Black" panose="020B0A04020102020204" pitchFamily="34" charset="0"/>
              </a:rPr>
              <a:t>6</a:t>
            </a:r>
          </a:p>
        </p:txBody>
      </p:sp>
      <p:sp>
        <p:nvSpPr>
          <p:cNvPr id="15" name="Oval 14"/>
          <p:cNvSpPr/>
          <p:nvPr/>
        </p:nvSpPr>
        <p:spPr>
          <a:xfrm>
            <a:off x="714375" y="939589"/>
            <a:ext cx="1295400" cy="1295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tangle 17"/>
          <p:cNvSpPr/>
          <p:nvPr/>
        </p:nvSpPr>
        <p:spPr>
          <a:xfrm rot="1056688">
            <a:off x="2711115" y="692751"/>
            <a:ext cx="1645316" cy="178907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Oval 19"/>
          <p:cNvSpPr/>
          <p:nvPr/>
        </p:nvSpPr>
        <p:spPr>
          <a:xfrm>
            <a:off x="2857500" y="942973"/>
            <a:ext cx="1295400" cy="1295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tangle 20"/>
          <p:cNvSpPr/>
          <p:nvPr/>
        </p:nvSpPr>
        <p:spPr>
          <a:xfrm rot="1056688">
            <a:off x="4844716" y="692750"/>
            <a:ext cx="1645316" cy="17890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Oval 21"/>
          <p:cNvSpPr/>
          <p:nvPr/>
        </p:nvSpPr>
        <p:spPr>
          <a:xfrm>
            <a:off x="4991101" y="942972"/>
            <a:ext cx="1295400" cy="1295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tangle 22"/>
          <p:cNvSpPr/>
          <p:nvPr/>
        </p:nvSpPr>
        <p:spPr>
          <a:xfrm rot="1056688">
            <a:off x="6982797" y="664178"/>
            <a:ext cx="1645316" cy="17890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Oval 23"/>
          <p:cNvSpPr/>
          <p:nvPr/>
        </p:nvSpPr>
        <p:spPr>
          <a:xfrm>
            <a:off x="7129182" y="914400"/>
            <a:ext cx="1295400" cy="1295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TextBox 24"/>
          <p:cNvSpPr txBox="1"/>
          <p:nvPr/>
        </p:nvSpPr>
        <p:spPr>
          <a:xfrm>
            <a:off x="2560577" y="2817692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 Black" panose="020B0A04020102020204" pitchFamily="34" charset="0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15550" y="2817692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4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81907" y="2817692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4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 rot="1056688">
            <a:off x="539418" y="3788378"/>
            <a:ext cx="1645316" cy="178907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Oval 35"/>
          <p:cNvSpPr/>
          <p:nvPr/>
        </p:nvSpPr>
        <p:spPr>
          <a:xfrm>
            <a:off x="714376" y="4035216"/>
            <a:ext cx="1295400" cy="1295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tangle 36"/>
          <p:cNvSpPr/>
          <p:nvPr/>
        </p:nvSpPr>
        <p:spPr>
          <a:xfrm rot="1056688">
            <a:off x="2711116" y="3788378"/>
            <a:ext cx="1645316" cy="178907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Oval 37"/>
          <p:cNvSpPr/>
          <p:nvPr/>
        </p:nvSpPr>
        <p:spPr>
          <a:xfrm>
            <a:off x="2857501" y="4038600"/>
            <a:ext cx="1295400" cy="1295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Rectangle 38"/>
          <p:cNvSpPr/>
          <p:nvPr/>
        </p:nvSpPr>
        <p:spPr>
          <a:xfrm rot="1056688">
            <a:off x="4844717" y="3788377"/>
            <a:ext cx="1645316" cy="178907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Oval 39"/>
          <p:cNvSpPr/>
          <p:nvPr/>
        </p:nvSpPr>
        <p:spPr>
          <a:xfrm>
            <a:off x="4991102" y="4038599"/>
            <a:ext cx="1295400" cy="1295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Rectangle 40"/>
          <p:cNvSpPr/>
          <p:nvPr/>
        </p:nvSpPr>
        <p:spPr>
          <a:xfrm rot="1056688">
            <a:off x="6982798" y="3759805"/>
            <a:ext cx="1645316" cy="178907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Oval 41"/>
          <p:cNvSpPr/>
          <p:nvPr/>
        </p:nvSpPr>
        <p:spPr>
          <a:xfrm>
            <a:off x="7129183" y="4010027"/>
            <a:ext cx="1295400" cy="1295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TextBox 42"/>
          <p:cNvSpPr txBox="1"/>
          <p:nvPr/>
        </p:nvSpPr>
        <p:spPr>
          <a:xfrm>
            <a:off x="426723" y="5951417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2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560577" y="5951417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2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715550" y="5951417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2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881907" y="5951417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2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905000" y="2817692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S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054630" y="2817692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 Black" panose="020B0A04020102020204" pitchFamily="34" charset="0"/>
              </a:rPr>
              <a:t>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03795" y="2829974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S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321830" y="2829974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 Black" panose="020B0A04020102020204" pitchFamily="34" charset="0"/>
              </a:rPr>
              <a:t>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05000" y="5942941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S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038600" y="5942941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 Black" panose="020B0A04020102020204" pitchFamily="34" charset="0"/>
              </a:rPr>
              <a:t>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87765" y="5955223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S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339486" y="5955223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 Black" panose="020B0A04020102020204" pitchFamily="34" charset="0"/>
              </a:rPr>
              <a:t>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0716" y="318131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S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548286" y="318131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 Black" panose="020B0A04020102020204" pitchFamily="34" charset="0"/>
              </a:rPr>
              <a:t>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85138" y="330413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S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853586" y="330413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 Black" panose="020B0A04020102020204" pitchFamily="34" charset="0"/>
              </a:rPr>
              <a:t>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4686" y="3443380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S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532256" y="3443380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 Black" panose="020B0A04020102020204" pitchFamily="34" charset="0"/>
              </a:rPr>
              <a:t>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69108" y="3455662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S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837556" y="3455662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 Black" panose="020B0A04020102020204" pitchFamily="34" charset="0"/>
              </a:rPr>
              <a:t>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06350" y="304800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 Black" panose="020B0A04020102020204" pitchFamily="34" charset="0"/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72264" y="304800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 Black" panose="020B0A04020102020204" pitchFamily="34" charset="0"/>
              </a:rP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39550" y="304800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4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355494" y="304800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4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906350" y="3438525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2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072264" y="3438525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2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239550" y="3438525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2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355494" y="3438525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2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49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381000" y="304800"/>
            <a:ext cx="1962150" cy="297180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ounded Rectangle 5"/>
          <p:cNvSpPr/>
          <p:nvPr/>
        </p:nvSpPr>
        <p:spPr>
          <a:xfrm>
            <a:off x="2524125" y="304800"/>
            <a:ext cx="1962150" cy="297180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ounded Rectangle 6"/>
          <p:cNvSpPr/>
          <p:nvPr/>
        </p:nvSpPr>
        <p:spPr>
          <a:xfrm>
            <a:off x="4686300" y="304800"/>
            <a:ext cx="1962150" cy="297180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ounded Rectangle 7"/>
          <p:cNvSpPr/>
          <p:nvPr/>
        </p:nvSpPr>
        <p:spPr>
          <a:xfrm>
            <a:off x="6819900" y="304800"/>
            <a:ext cx="1962150" cy="297180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ounded Rectangle 8"/>
          <p:cNvSpPr/>
          <p:nvPr/>
        </p:nvSpPr>
        <p:spPr>
          <a:xfrm>
            <a:off x="381000" y="3438525"/>
            <a:ext cx="1962150" cy="297180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ounded Rectangle 9"/>
          <p:cNvSpPr/>
          <p:nvPr/>
        </p:nvSpPr>
        <p:spPr>
          <a:xfrm>
            <a:off x="2524125" y="3438525"/>
            <a:ext cx="1962150" cy="297180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ounded Rectangle 10"/>
          <p:cNvSpPr/>
          <p:nvPr/>
        </p:nvSpPr>
        <p:spPr>
          <a:xfrm>
            <a:off x="4686300" y="3438525"/>
            <a:ext cx="1962150" cy="297180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ounded Rectangle 11"/>
          <p:cNvSpPr/>
          <p:nvPr/>
        </p:nvSpPr>
        <p:spPr>
          <a:xfrm>
            <a:off x="6819900" y="3438525"/>
            <a:ext cx="1962150" cy="297180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Rounded Rectangle 33"/>
          <p:cNvSpPr/>
          <p:nvPr/>
        </p:nvSpPr>
        <p:spPr>
          <a:xfrm>
            <a:off x="533400" y="457200"/>
            <a:ext cx="1676400" cy="2667000"/>
          </a:xfrm>
          <a:prstGeom prst="roundRect">
            <a:avLst/>
          </a:prstGeom>
          <a:solidFill>
            <a:srgbClr val="7030A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Rounded Rectangle 46"/>
          <p:cNvSpPr/>
          <p:nvPr/>
        </p:nvSpPr>
        <p:spPr>
          <a:xfrm>
            <a:off x="2667000" y="438150"/>
            <a:ext cx="1676400" cy="2667000"/>
          </a:xfrm>
          <a:prstGeom prst="roundRect">
            <a:avLst/>
          </a:prstGeom>
          <a:solidFill>
            <a:srgbClr val="7030A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Rounded Rectangle 47"/>
          <p:cNvSpPr/>
          <p:nvPr/>
        </p:nvSpPr>
        <p:spPr>
          <a:xfrm>
            <a:off x="4829175" y="457200"/>
            <a:ext cx="1676400" cy="2667000"/>
          </a:xfrm>
          <a:prstGeom prst="roundRect">
            <a:avLst/>
          </a:prstGeom>
          <a:solidFill>
            <a:srgbClr val="0070C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Rounded Rectangle 48"/>
          <p:cNvSpPr/>
          <p:nvPr/>
        </p:nvSpPr>
        <p:spPr>
          <a:xfrm>
            <a:off x="6962775" y="457200"/>
            <a:ext cx="1676400" cy="2667000"/>
          </a:xfrm>
          <a:prstGeom prst="roundRect">
            <a:avLst/>
          </a:prstGeom>
          <a:solidFill>
            <a:srgbClr val="0070C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ounded Rectangle 49"/>
          <p:cNvSpPr/>
          <p:nvPr/>
        </p:nvSpPr>
        <p:spPr>
          <a:xfrm>
            <a:off x="523875" y="3609975"/>
            <a:ext cx="1676400" cy="2667000"/>
          </a:xfrm>
          <a:prstGeom prst="roundRect">
            <a:avLst/>
          </a:prstGeom>
          <a:solidFill>
            <a:srgbClr val="00B05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Rounded Rectangle 50"/>
          <p:cNvSpPr/>
          <p:nvPr/>
        </p:nvSpPr>
        <p:spPr>
          <a:xfrm>
            <a:off x="2657475" y="3590925"/>
            <a:ext cx="1676400" cy="2667000"/>
          </a:xfrm>
          <a:prstGeom prst="roundRect">
            <a:avLst/>
          </a:prstGeom>
          <a:solidFill>
            <a:srgbClr val="00B05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Rounded Rectangle 51"/>
          <p:cNvSpPr/>
          <p:nvPr/>
        </p:nvSpPr>
        <p:spPr>
          <a:xfrm>
            <a:off x="4819650" y="3609975"/>
            <a:ext cx="1676400" cy="2667000"/>
          </a:xfrm>
          <a:prstGeom prst="roundRect">
            <a:avLst/>
          </a:prstGeom>
          <a:solidFill>
            <a:srgbClr val="00B05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Rounded Rectangle 52"/>
          <p:cNvSpPr/>
          <p:nvPr/>
        </p:nvSpPr>
        <p:spPr>
          <a:xfrm>
            <a:off x="6953250" y="3609975"/>
            <a:ext cx="1676400" cy="2667000"/>
          </a:xfrm>
          <a:prstGeom prst="roundRect">
            <a:avLst/>
          </a:prstGeom>
          <a:solidFill>
            <a:srgbClr val="00B05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68513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381000" y="304800"/>
            <a:ext cx="1962150" cy="29718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ounded Rectangle 5"/>
          <p:cNvSpPr/>
          <p:nvPr/>
        </p:nvSpPr>
        <p:spPr>
          <a:xfrm>
            <a:off x="2524125" y="304800"/>
            <a:ext cx="1962150" cy="29718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ounded Rectangle 6"/>
          <p:cNvSpPr/>
          <p:nvPr/>
        </p:nvSpPr>
        <p:spPr>
          <a:xfrm>
            <a:off x="4686300" y="304800"/>
            <a:ext cx="1962150" cy="29718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ounded Rectangle 7"/>
          <p:cNvSpPr/>
          <p:nvPr/>
        </p:nvSpPr>
        <p:spPr>
          <a:xfrm>
            <a:off x="6819900" y="304800"/>
            <a:ext cx="1962150" cy="29718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ounded Rectangle 8"/>
          <p:cNvSpPr/>
          <p:nvPr/>
        </p:nvSpPr>
        <p:spPr>
          <a:xfrm>
            <a:off x="381000" y="3438525"/>
            <a:ext cx="1962150" cy="29718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ounded Rectangle 9"/>
          <p:cNvSpPr/>
          <p:nvPr/>
        </p:nvSpPr>
        <p:spPr>
          <a:xfrm>
            <a:off x="2524125" y="3438525"/>
            <a:ext cx="1962150" cy="29718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ounded Rectangle 10"/>
          <p:cNvSpPr/>
          <p:nvPr/>
        </p:nvSpPr>
        <p:spPr>
          <a:xfrm>
            <a:off x="4686300" y="3438525"/>
            <a:ext cx="1962150" cy="29718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ounded Rectangle 11"/>
          <p:cNvSpPr/>
          <p:nvPr/>
        </p:nvSpPr>
        <p:spPr>
          <a:xfrm>
            <a:off x="6819900" y="3438525"/>
            <a:ext cx="1962150" cy="29718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tangle 12"/>
          <p:cNvSpPr/>
          <p:nvPr/>
        </p:nvSpPr>
        <p:spPr>
          <a:xfrm rot="1056688">
            <a:off x="539417" y="699518"/>
            <a:ext cx="1645316" cy="17890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Box 13"/>
          <p:cNvSpPr txBox="1"/>
          <p:nvPr/>
        </p:nvSpPr>
        <p:spPr>
          <a:xfrm>
            <a:off x="426723" y="2817692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1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14375" y="946356"/>
            <a:ext cx="1295400" cy="1295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tangle 17"/>
          <p:cNvSpPr/>
          <p:nvPr/>
        </p:nvSpPr>
        <p:spPr>
          <a:xfrm rot="1056688">
            <a:off x="2711115" y="699518"/>
            <a:ext cx="1645316" cy="17890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Oval 19"/>
          <p:cNvSpPr/>
          <p:nvPr/>
        </p:nvSpPr>
        <p:spPr>
          <a:xfrm>
            <a:off x="2857500" y="949740"/>
            <a:ext cx="1295400" cy="1295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tangle 20"/>
          <p:cNvSpPr/>
          <p:nvPr/>
        </p:nvSpPr>
        <p:spPr>
          <a:xfrm rot="1056688">
            <a:off x="4844716" y="699517"/>
            <a:ext cx="1645316" cy="17890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Oval 21"/>
          <p:cNvSpPr/>
          <p:nvPr/>
        </p:nvSpPr>
        <p:spPr>
          <a:xfrm>
            <a:off x="4991101" y="949739"/>
            <a:ext cx="1295400" cy="1295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tangle 22"/>
          <p:cNvSpPr/>
          <p:nvPr/>
        </p:nvSpPr>
        <p:spPr>
          <a:xfrm rot="1056688">
            <a:off x="6982797" y="670945"/>
            <a:ext cx="1645316" cy="17890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Oval 23"/>
          <p:cNvSpPr/>
          <p:nvPr/>
        </p:nvSpPr>
        <p:spPr>
          <a:xfrm>
            <a:off x="7129182" y="921167"/>
            <a:ext cx="1295400" cy="1295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TextBox 24"/>
          <p:cNvSpPr txBox="1"/>
          <p:nvPr/>
        </p:nvSpPr>
        <p:spPr>
          <a:xfrm>
            <a:off x="2560577" y="2817692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1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15550" y="2817692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1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43807" y="2817692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1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 rot="1056688">
            <a:off x="539418" y="3795145"/>
            <a:ext cx="1645316" cy="17890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Oval 35"/>
          <p:cNvSpPr/>
          <p:nvPr/>
        </p:nvSpPr>
        <p:spPr>
          <a:xfrm>
            <a:off x="714376" y="4041983"/>
            <a:ext cx="1295400" cy="1295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tangle 36"/>
          <p:cNvSpPr/>
          <p:nvPr/>
        </p:nvSpPr>
        <p:spPr>
          <a:xfrm rot="1056688">
            <a:off x="2711116" y="3795145"/>
            <a:ext cx="1645316" cy="17890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Oval 37"/>
          <p:cNvSpPr/>
          <p:nvPr/>
        </p:nvSpPr>
        <p:spPr>
          <a:xfrm>
            <a:off x="2857501" y="4045367"/>
            <a:ext cx="1295400" cy="1295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Rectangle 38"/>
          <p:cNvSpPr/>
          <p:nvPr/>
        </p:nvSpPr>
        <p:spPr>
          <a:xfrm rot="1056688">
            <a:off x="4844717" y="3795144"/>
            <a:ext cx="1645316" cy="17890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Oval 39"/>
          <p:cNvSpPr/>
          <p:nvPr/>
        </p:nvSpPr>
        <p:spPr>
          <a:xfrm>
            <a:off x="4991102" y="4045366"/>
            <a:ext cx="1295400" cy="1295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Rectangle 40"/>
          <p:cNvSpPr/>
          <p:nvPr/>
        </p:nvSpPr>
        <p:spPr>
          <a:xfrm rot="1056688">
            <a:off x="6982798" y="3766572"/>
            <a:ext cx="1645316" cy="17890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Oval 41"/>
          <p:cNvSpPr/>
          <p:nvPr/>
        </p:nvSpPr>
        <p:spPr>
          <a:xfrm>
            <a:off x="7129183" y="4016794"/>
            <a:ext cx="1295400" cy="1295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Box 29"/>
          <p:cNvSpPr txBox="1"/>
          <p:nvPr/>
        </p:nvSpPr>
        <p:spPr>
          <a:xfrm>
            <a:off x="426723" y="5951417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1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560577" y="5951417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1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715550" y="5951417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1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43807" y="5951417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1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921030" y="2817692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S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054630" y="2817692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 Black" panose="020B0A04020102020204" pitchFamily="34" charset="0"/>
              </a:rPr>
              <a:t>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88230" y="2829974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S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321830" y="2829974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 Black" panose="020B0A04020102020204" pitchFamily="34" charset="0"/>
              </a:rPr>
              <a:t>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05000" y="5942941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S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038600" y="5942941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 Black" panose="020B0A04020102020204" pitchFamily="34" charset="0"/>
              </a:rPr>
              <a:t>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5955223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S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339486" y="5955223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 Black" panose="020B0A04020102020204" pitchFamily="34" charset="0"/>
              </a:rPr>
              <a:t>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0716" y="318131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S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548286" y="318131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 Black" panose="020B0A04020102020204" pitchFamily="34" charset="0"/>
              </a:rPr>
              <a:t>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85138" y="330413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S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815486" y="330413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 Black" panose="020B0A04020102020204" pitchFamily="34" charset="0"/>
              </a:rPr>
              <a:t>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4686" y="3443380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S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532256" y="3443380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 Black" panose="020B0A04020102020204" pitchFamily="34" charset="0"/>
              </a:rPr>
              <a:t>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9108" y="3455662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S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799456" y="3455662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 Black" panose="020B0A04020102020204" pitchFamily="34" charset="0"/>
              </a:rPr>
              <a:t>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22380" y="304800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1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072264" y="304800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23985" y="304800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1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355494" y="304800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1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922380" y="3438525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1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072264" y="3438525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1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223985" y="3438525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1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8355494" y="3438525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1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070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381000" y="304800"/>
            <a:ext cx="1962150" cy="297180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ounded Rectangle 5"/>
          <p:cNvSpPr/>
          <p:nvPr/>
        </p:nvSpPr>
        <p:spPr>
          <a:xfrm>
            <a:off x="2524125" y="304800"/>
            <a:ext cx="1962150" cy="297180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ounded Rectangle 6"/>
          <p:cNvSpPr/>
          <p:nvPr/>
        </p:nvSpPr>
        <p:spPr>
          <a:xfrm>
            <a:off x="4686300" y="304800"/>
            <a:ext cx="1962150" cy="297180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ounded Rectangle 7"/>
          <p:cNvSpPr/>
          <p:nvPr/>
        </p:nvSpPr>
        <p:spPr>
          <a:xfrm>
            <a:off x="6819900" y="304800"/>
            <a:ext cx="1962150" cy="297180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ounded Rectangle 8"/>
          <p:cNvSpPr/>
          <p:nvPr/>
        </p:nvSpPr>
        <p:spPr>
          <a:xfrm>
            <a:off x="381000" y="3438525"/>
            <a:ext cx="1962150" cy="297180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ounded Rectangle 9"/>
          <p:cNvSpPr/>
          <p:nvPr/>
        </p:nvSpPr>
        <p:spPr>
          <a:xfrm>
            <a:off x="2524125" y="3438525"/>
            <a:ext cx="1962150" cy="297180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ounded Rectangle 10"/>
          <p:cNvSpPr/>
          <p:nvPr/>
        </p:nvSpPr>
        <p:spPr>
          <a:xfrm>
            <a:off x="4686300" y="3438525"/>
            <a:ext cx="1962150" cy="297180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ounded Rectangle 11"/>
          <p:cNvSpPr/>
          <p:nvPr/>
        </p:nvSpPr>
        <p:spPr>
          <a:xfrm>
            <a:off x="6819900" y="3438525"/>
            <a:ext cx="1962150" cy="297180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Rounded Rectangle 33"/>
          <p:cNvSpPr/>
          <p:nvPr/>
        </p:nvSpPr>
        <p:spPr>
          <a:xfrm>
            <a:off x="533400" y="457200"/>
            <a:ext cx="1676400" cy="266700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Rounded Rectangle 42"/>
          <p:cNvSpPr/>
          <p:nvPr/>
        </p:nvSpPr>
        <p:spPr>
          <a:xfrm>
            <a:off x="2667000" y="438150"/>
            <a:ext cx="1676400" cy="266700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Rounded Rectangle 43"/>
          <p:cNvSpPr/>
          <p:nvPr/>
        </p:nvSpPr>
        <p:spPr>
          <a:xfrm>
            <a:off x="4829175" y="457200"/>
            <a:ext cx="1676400" cy="266700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Rounded Rectangle 44"/>
          <p:cNvSpPr/>
          <p:nvPr/>
        </p:nvSpPr>
        <p:spPr>
          <a:xfrm>
            <a:off x="6962775" y="457200"/>
            <a:ext cx="1676400" cy="266700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Rounded Rectangle 45"/>
          <p:cNvSpPr/>
          <p:nvPr/>
        </p:nvSpPr>
        <p:spPr>
          <a:xfrm>
            <a:off x="523875" y="3609975"/>
            <a:ext cx="1676400" cy="266700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Rounded Rectangle 46"/>
          <p:cNvSpPr/>
          <p:nvPr/>
        </p:nvSpPr>
        <p:spPr>
          <a:xfrm>
            <a:off x="2657475" y="3590925"/>
            <a:ext cx="1676400" cy="266700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Rounded Rectangle 47"/>
          <p:cNvSpPr/>
          <p:nvPr/>
        </p:nvSpPr>
        <p:spPr>
          <a:xfrm>
            <a:off x="4819650" y="3609975"/>
            <a:ext cx="1676400" cy="266700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Rounded Rectangle 48"/>
          <p:cNvSpPr/>
          <p:nvPr/>
        </p:nvSpPr>
        <p:spPr>
          <a:xfrm>
            <a:off x="6953250" y="3609975"/>
            <a:ext cx="1676400" cy="266700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3872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381000" y="304800"/>
            <a:ext cx="1962150" cy="29718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ounded Rectangle 5"/>
          <p:cNvSpPr/>
          <p:nvPr/>
        </p:nvSpPr>
        <p:spPr>
          <a:xfrm>
            <a:off x="2524125" y="304800"/>
            <a:ext cx="1962150" cy="29718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ounded Rectangle 6"/>
          <p:cNvSpPr/>
          <p:nvPr/>
        </p:nvSpPr>
        <p:spPr>
          <a:xfrm>
            <a:off x="4686300" y="304800"/>
            <a:ext cx="1962150" cy="29718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ounded Rectangle 7"/>
          <p:cNvSpPr/>
          <p:nvPr/>
        </p:nvSpPr>
        <p:spPr>
          <a:xfrm>
            <a:off x="6819900" y="304800"/>
            <a:ext cx="1962150" cy="29718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ounded Rectangle 8"/>
          <p:cNvSpPr/>
          <p:nvPr/>
        </p:nvSpPr>
        <p:spPr>
          <a:xfrm>
            <a:off x="381000" y="3438525"/>
            <a:ext cx="1962150" cy="29718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ounded Rectangle 9"/>
          <p:cNvSpPr/>
          <p:nvPr/>
        </p:nvSpPr>
        <p:spPr>
          <a:xfrm>
            <a:off x="2524125" y="3438525"/>
            <a:ext cx="1962150" cy="29718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ounded Rectangle 10"/>
          <p:cNvSpPr/>
          <p:nvPr/>
        </p:nvSpPr>
        <p:spPr>
          <a:xfrm>
            <a:off x="4686300" y="3438525"/>
            <a:ext cx="1962150" cy="29718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ounded Rectangle 11"/>
          <p:cNvSpPr/>
          <p:nvPr/>
        </p:nvSpPr>
        <p:spPr>
          <a:xfrm>
            <a:off x="6819900" y="3438525"/>
            <a:ext cx="1962150" cy="2971800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tangle 12"/>
          <p:cNvSpPr/>
          <p:nvPr/>
        </p:nvSpPr>
        <p:spPr>
          <a:xfrm rot="1056688">
            <a:off x="539417" y="699518"/>
            <a:ext cx="1645316" cy="17890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Box 13"/>
          <p:cNvSpPr txBox="1"/>
          <p:nvPr/>
        </p:nvSpPr>
        <p:spPr>
          <a:xfrm>
            <a:off x="426723" y="2817692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1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14375" y="946356"/>
            <a:ext cx="1295400" cy="1295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tangle 17"/>
          <p:cNvSpPr/>
          <p:nvPr/>
        </p:nvSpPr>
        <p:spPr>
          <a:xfrm rot="1056688">
            <a:off x="2711115" y="699518"/>
            <a:ext cx="1645316" cy="17890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Oval 19"/>
          <p:cNvSpPr/>
          <p:nvPr/>
        </p:nvSpPr>
        <p:spPr>
          <a:xfrm>
            <a:off x="2857500" y="949740"/>
            <a:ext cx="1295400" cy="1295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tangle 20"/>
          <p:cNvSpPr/>
          <p:nvPr/>
        </p:nvSpPr>
        <p:spPr>
          <a:xfrm rot="1056688">
            <a:off x="4844716" y="699517"/>
            <a:ext cx="1645316" cy="17890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Oval 21"/>
          <p:cNvSpPr/>
          <p:nvPr/>
        </p:nvSpPr>
        <p:spPr>
          <a:xfrm>
            <a:off x="4991101" y="949739"/>
            <a:ext cx="1295400" cy="1295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tangle 22"/>
          <p:cNvSpPr/>
          <p:nvPr/>
        </p:nvSpPr>
        <p:spPr>
          <a:xfrm rot="1056688">
            <a:off x="6982797" y="670945"/>
            <a:ext cx="1645316" cy="17890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Oval 23"/>
          <p:cNvSpPr/>
          <p:nvPr/>
        </p:nvSpPr>
        <p:spPr>
          <a:xfrm>
            <a:off x="7129182" y="921167"/>
            <a:ext cx="1295400" cy="1295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TextBox 24"/>
          <p:cNvSpPr txBox="1"/>
          <p:nvPr/>
        </p:nvSpPr>
        <p:spPr>
          <a:xfrm>
            <a:off x="2560577" y="2817692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1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15550" y="2817692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1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43807" y="2817692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1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 rot="1056688">
            <a:off x="539418" y="3795145"/>
            <a:ext cx="1645316" cy="17890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Oval 35"/>
          <p:cNvSpPr/>
          <p:nvPr/>
        </p:nvSpPr>
        <p:spPr>
          <a:xfrm>
            <a:off x="714376" y="4041983"/>
            <a:ext cx="1295400" cy="1295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tangle 36"/>
          <p:cNvSpPr/>
          <p:nvPr/>
        </p:nvSpPr>
        <p:spPr>
          <a:xfrm rot="1056688">
            <a:off x="2711116" y="3795145"/>
            <a:ext cx="1645316" cy="17890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Oval 37"/>
          <p:cNvSpPr/>
          <p:nvPr/>
        </p:nvSpPr>
        <p:spPr>
          <a:xfrm>
            <a:off x="2857501" y="4045367"/>
            <a:ext cx="1295400" cy="1295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Rectangle 38"/>
          <p:cNvSpPr/>
          <p:nvPr/>
        </p:nvSpPr>
        <p:spPr>
          <a:xfrm rot="1056688">
            <a:off x="4844717" y="3795144"/>
            <a:ext cx="1645316" cy="17890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Oval 39"/>
          <p:cNvSpPr/>
          <p:nvPr/>
        </p:nvSpPr>
        <p:spPr>
          <a:xfrm>
            <a:off x="4991102" y="4045366"/>
            <a:ext cx="1295400" cy="1295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Rectangle 40"/>
          <p:cNvSpPr/>
          <p:nvPr/>
        </p:nvSpPr>
        <p:spPr>
          <a:xfrm rot="1056688">
            <a:off x="6982798" y="3766572"/>
            <a:ext cx="1645316" cy="17890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Oval 41"/>
          <p:cNvSpPr/>
          <p:nvPr/>
        </p:nvSpPr>
        <p:spPr>
          <a:xfrm>
            <a:off x="7129183" y="4016794"/>
            <a:ext cx="1295400" cy="1295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Box 29"/>
          <p:cNvSpPr txBox="1"/>
          <p:nvPr/>
        </p:nvSpPr>
        <p:spPr>
          <a:xfrm>
            <a:off x="426723" y="5951417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1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560577" y="5951417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1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715550" y="5951417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1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43807" y="5951417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1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921030" y="2817692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S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054630" y="2817692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 Black" panose="020B0A04020102020204" pitchFamily="34" charset="0"/>
              </a:rPr>
              <a:t>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88230" y="2829974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S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321830" y="2829974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 Black" panose="020B0A04020102020204" pitchFamily="34" charset="0"/>
              </a:rPr>
              <a:t>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05000" y="5942941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S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038600" y="5942941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 Black" panose="020B0A04020102020204" pitchFamily="34" charset="0"/>
              </a:rPr>
              <a:t>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5955223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S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339486" y="5955223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 Black" panose="020B0A04020102020204" pitchFamily="34" charset="0"/>
              </a:rPr>
              <a:t>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0716" y="318131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S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548286" y="318131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 Black" panose="020B0A04020102020204" pitchFamily="34" charset="0"/>
              </a:rPr>
              <a:t>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85138" y="330413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S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815486" y="330413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 Black" panose="020B0A04020102020204" pitchFamily="34" charset="0"/>
              </a:rPr>
              <a:t>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4686" y="3443380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S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532256" y="3443380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 Black" panose="020B0A04020102020204" pitchFamily="34" charset="0"/>
              </a:rPr>
              <a:t>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9108" y="3455662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S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799456" y="3455662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 Black" panose="020B0A04020102020204" pitchFamily="34" charset="0"/>
              </a:rPr>
              <a:t>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22380" y="304800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1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072264" y="304800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23985" y="304800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1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355494" y="304800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1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922380" y="3438525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1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072264" y="3438525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1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223985" y="3438525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1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8355494" y="3438525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 smtClean="0">
                <a:latin typeface="Arial Black" panose="020B0A04020102020204" pitchFamily="34" charset="0"/>
              </a:rPr>
              <a:t>1</a:t>
            </a:r>
            <a:endParaRPr lang="de-DE" sz="2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5697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381000" y="304800"/>
            <a:ext cx="1962150" cy="297180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ounded Rectangle 5"/>
          <p:cNvSpPr/>
          <p:nvPr/>
        </p:nvSpPr>
        <p:spPr>
          <a:xfrm>
            <a:off x="2524125" y="304800"/>
            <a:ext cx="1962150" cy="297180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ounded Rectangle 6"/>
          <p:cNvSpPr/>
          <p:nvPr/>
        </p:nvSpPr>
        <p:spPr>
          <a:xfrm>
            <a:off x="4686300" y="304800"/>
            <a:ext cx="1962150" cy="297180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ounded Rectangle 7"/>
          <p:cNvSpPr/>
          <p:nvPr/>
        </p:nvSpPr>
        <p:spPr>
          <a:xfrm>
            <a:off x="6819900" y="304800"/>
            <a:ext cx="1962150" cy="297180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ounded Rectangle 8"/>
          <p:cNvSpPr/>
          <p:nvPr/>
        </p:nvSpPr>
        <p:spPr>
          <a:xfrm>
            <a:off x="381000" y="3438525"/>
            <a:ext cx="1962150" cy="297180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ounded Rectangle 9"/>
          <p:cNvSpPr/>
          <p:nvPr/>
        </p:nvSpPr>
        <p:spPr>
          <a:xfrm>
            <a:off x="2524125" y="3438525"/>
            <a:ext cx="1962150" cy="297180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ounded Rectangle 10"/>
          <p:cNvSpPr/>
          <p:nvPr/>
        </p:nvSpPr>
        <p:spPr>
          <a:xfrm>
            <a:off x="4686300" y="3438525"/>
            <a:ext cx="1962150" cy="297180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ounded Rectangle 11"/>
          <p:cNvSpPr/>
          <p:nvPr/>
        </p:nvSpPr>
        <p:spPr>
          <a:xfrm>
            <a:off x="6819900" y="3438525"/>
            <a:ext cx="1962150" cy="297180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Rounded Rectangle 33"/>
          <p:cNvSpPr/>
          <p:nvPr/>
        </p:nvSpPr>
        <p:spPr>
          <a:xfrm>
            <a:off x="533400" y="457200"/>
            <a:ext cx="1676400" cy="266700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Rounded Rectangle 42"/>
          <p:cNvSpPr/>
          <p:nvPr/>
        </p:nvSpPr>
        <p:spPr>
          <a:xfrm>
            <a:off x="2667000" y="438150"/>
            <a:ext cx="1676400" cy="266700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Rounded Rectangle 43"/>
          <p:cNvSpPr/>
          <p:nvPr/>
        </p:nvSpPr>
        <p:spPr>
          <a:xfrm>
            <a:off x="4829175" y="457200"/>
            <a:ext cx="1676400" cy="266700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Rounded Rectangle 44"/>
          <p:cNvSpPr/>
          <p:nvPr/>
        </p:nvSpPr>
        <p:spPr>
          <a:xfrm>
            <a:off x="6962775" y="457200"/>
            <a:ext cx="1676400" cy="266700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Rounded Rectangle 45"/>
          <p:cNvSpPr/>
          <p:nvPr/>
        </p:nvSpPr>
        <p:spPr>
          <a:xfrm>
            <a:off x="523875" y="3609975"/>
            <a:ext cx="1676400" cy="266700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Rounded Rectangle 46"/>
          <p:cNvSpPr/>
          <p:nvPr/>
        </p:nvSpPr>
        <p:spPr>
          <a:xfrm>
            <a:off x="2657475" y="3590925"/>
            <a:ext cx="1676400" cy="266700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Rounded Rectangle 47"/>
          <p:cNvSpPr/>
          <p:nvPr/>
        </p:nvSpPr>
        <p:spPr>
          <a:xfrm>
            <a:off x="4819650" y="3609975"/>
            <a:ext cx="1676400" cy="266700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Rounded Rectangle 48"/>
          <p:cNvSpPr/>
          <p:nvPr/>
        </p:nvSpPr>
        <p:spPr>
          <a:xfrm>
            <a:off x="6953250" y="3609975"/>
            <a:ext cx="1676400" cy="266700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05352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1000" y="304800"/>
            <a:ext cx="1962150" cy="1971675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tangle 5"/>
          <p:cNvSpPr/>
          <p:nvPr/>
        </p:nvSpPr>
        <p:spPr>
          <a:xfrm>
            <a:off x="2524125" y="304800"/>
            <a:ext cx="1962150" cy="1971675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tangle 6"/>
          <p:cNvSpPr/>
          <p:nvPr/>
        </p:nvSpPr>
        <p:spPr>
          <a:xfrm>
            <a:off x="4686300" y="304800"/>
            <a:ext cx="1962150" cy="1971675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tangle 7"/>
          <p:cNvSpPr/>
          <p:nvPr/>
        </p:nvSpPr>
        <p:spPr>
          <a:xfrm>
            <a:off x="6819900" y="304800"/>
            <a:ext cx="1962150" cy="1971675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tangle 8"/>
          <p:cNvSpPr/>
          <p:nvPr/>
        </p:nvSpPr>
        <p:spPr>
          <a:xfrm>
            <a:off x="381000" y="3438525"/>
            <a:ext cx="1962150" cy="1971675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tangle 9"/>
          <p:cNvSpPr/>
          <p:nvPr/>
        </p:nvSpPr>
        <p:spPr>
          <a:xfrm>
            <a:off x="2524125" y="3438525"/>
            <a:ext cx="1962150" cy="1971675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tangle 10"/>
          <p:cNvSpPr/>
          <p:nvPr/>
        </p:nvSpPr>
        <p:spPr>
          <a:xfrm>
            <a:off x="4686300" y="3438525"/>
            <a:ext cx="1962150" cy="1971675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tangle 11"/>
          <p:cNvSpPr/>
          <p:nvPr/>
        </p:nvSpPr>
        <p:spPr>
          <a:xfrm>
            <a:off x="6819900" y="3438525"/>
            <a:ext cx="1962150" cy="1971675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22794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Seamless Beach Sand Texture | Sand textures, Photoshop textures, Beach sa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04800"/>
            <a:ext cx="1962150" cy="1981200"/>
          </a:xfrm>
          <a:prstGeom prst="rect">
            <a:avLst/>
          </a:prstGeom>
          <a:solidFill>
            <a:srgbClr val="FEEB9A"/>
          </a:solidFill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Seamless Beach Sand Texture | Sand textures, Photoshop textures, Beach sa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5" y="295275"/>
            <a:ext cx="1962150" cy="1981200"/>
          </a:xfrm>
          <a:prstGeom prst="rect">
            <a:avLst/>
          </a:prstGeom>
          <a:solidFill>
            <a:srgbClr val="FEEB9A"/>
          </a:solidFill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Seamless Beach Sand Texture | Sand textures, Photoshop textures, Beach sa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295275"/>
            <a:ext cx="1962150" cy="1981200"/>
          </a:xfrm>
          <a:prstGeom prst="rect">
            <a:avLst/>
          </a:prstGeom>
          <a:solidFill>
            <a:srgbClr val="FEEB9A"/>
          </a:solidFill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Seamless Beach Sand Texture | Sand textures, Photoshop textures, Beach sa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295275"/>
            <a:ext cx="1962150" cy="1981200"/>
          </a:xfrm>
          <a:prstGeom prst="rect">
            <a:avLst/>
          </a:prstGeom>
          <a:solidFill>
            <a:srgbClr val="FEEB9A"/>
          </a:solidFill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Seamless Beach Sand Texture | Sand textures, Photoshop textures, Beach sa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429000"/>
            <a:ext cx="1962150" cy="1981200"/>
          </a:xfrm>
          <a:prstGeom prst="rect">
            <a:avLst/>
          </a:prstGeom>
          <a:solidFill>
            <a:srgbClr val="FEEB9A"/>
          </a:solidFill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Seamless Beach Sand Texture | Sand textures, Photoshop textures, Beach sa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5" y="3419475"/>
            <a:ext cx="1962150" cy="1981200"/>
          </a:xfrm>
          <a:prstGeom prst="rect">
            <a:avLst/>
          </a:prstGeom>
          <a:solidFill>
            <a:srgbClr val="FEEB9A"/>
          </a:solidFill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Seamless Beach Sand Texture | Sand textures, Photoshop textures, Beach sa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3419475"/>
            <a:ext cx="1962150" cy="1981200"/>
          </a:xfrm>
          <a:prstGeom prst="rect">
            <a:avLst/>
          </a:prstGeom>
          <a:solidFill>
            <a:srgbClr val="FEEB9A"/>
          </a:solidFill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Seamless Beach Sand Texture | Sand textures, Photoshop textures, Beach sa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3419475"/>
            <a:ext cx="1962150" cy="1981200"/>
          </a:xfrm>
          <a:prstGeom prst="rect">
            <a:avLst/>
          </a:prstGeom>
          <a:solidFill>
            <a:srgbClr val="FEEB9A"/>
          </a:solidFill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83696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1000" y="304800"/>
            <a:ext cx="1962150" cy="1971675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tangle 5"/>
          <p:cNvSpPr/>
          <p:nvPr/>
        </p:nvSpPr>
        <p:spPr>
          <a:xfrm>
            <a:off x="2524125" y="304800"/>
            <a:ext cx="1962150" cy="1971675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tangle 6"/>
          <p:cNvSpPr/>
          <p:nvPr/>
        </p:nvSpPr>
        <p:spPr>
          <a:xfrm>
            <a:off x="4686300" y="304800"/>
            <a:ext cx="1962150" cy="1971675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tangle 7"/>
          <p:cNvSpPr/>
          <p:nvPr/>
        </p:nvSpPr>
        <p:spPr>
          <a:xfrm>
            <a:off x="6819900" y="304800"/>
            <a:ext cx="1962150" cy="1971675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tangle 8"/>
          <p:cNvSpPr/>
          <p:nvPr/>
        </p:nvSpPr>
        <p:spPr>
          <a:xfrm>
            <a:off x="381000" y="3438525"/>
            <a:ext cx="1962150" cy="1971675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tangle 9"/>
          <p:cNvSpPr/>
          <p:nvPr/>
        </p:nvSpPr>
        <p:spPr>
          <a:xfrm>
            <a:off x="2524125" y="3438525"/>
            <a:ext cx="1962150" cy="1971675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tangle 10"/>
          <p:cNvSpPr/>
          <p:nvPr/>
        </p:nvSpPr>
        <p:spPr>
          <a:xfrm>
            <a:off x="4686300" y="3438525"/>
            <a:ext cx="1962150" cy="1971675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tangle 11"/>
          <p:cNvSpPr/>
          <p:nvPr/>
        </p:nvSpPr>
        <p:spPr>
          <a:xfrm>
            <a:off x="6819900" y="3438525"/>
            <a:ext cx="1962150" cy="1971675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69173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Seamless Beach Sand Texture | Sand textures, Photoshop textures, Beach sa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04800"/>
            <a:ext cx="1962150" cy="1981200"/>
          </a:xfrm>
          <a:prstGeom prst="rect">
            <a:avLst/>
          </a:prstGeom>
          <a:solidFill>
            <a:srgbClr val="FEEB9A"/>
          </a:solidFill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Seamless Beach Sand Texture | Sand textures, Photoshop textures, Beach sa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5" y="295275"/>
            <a:ext cx="1962150" cy="1981200"/>
          </a:xfrm>
          <a:prstGeom prst="rect">
            <a:avLst/>
          </a:prstGeom>
          <a:solidFill>
            <a:srgbClr val="FEEB9A"/>
          </a:solidFill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Seamless Beach Sand Texture | Sand textures, Photoshop textures, Beach sa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295275"/>
            <a:ext cx="1962150" cy="1981200"/>
          </a:xfrm>
          <a:prstGeom prst="rect">
            <a:avLst/>
          </a:prstGeom>
          <a:solidFill>
            <a:srgbClr val="FEEB9A"/>
          </a:solidFill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Seamless Beach Sand Texture | Sand textures, Photoshop textures, Beach sa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295275"/>
            <a:ext cx="1962150" cy="1981200"/>
          </a:xfrm>
          <a:prstGeom prst="rect">
            <a:avLst/>
          </a:prstGeom>
          <a:solidFill>
            <a:srgbClr val="FEEB9A"/>
          </a:solidFill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Seamless Beach Sand Texture | Sand textures, Photoshop textures, Beach sa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429000"/>
            <a:ext cx="1962150" cy="1981200"/>
          </a:xfrm>
          <a:prstGeom prst="rect">
            <a:avLst/>
          </a:prstGeom>
          <a:solidFill>
            <a:srgbClr val="FEEB9A"/>
          </a:solidFill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Seamless Beach Sand Texture | Sand textures, Photoshop textures, Beach sa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5" y="3419475"/>
            <a:ext cx="1962150" cy="1981200"/>
          </a:xfrm>
          <a:prstGeom prst="rect">
            <a:avLst/>
          </a:prstGeom>
          <a:solidFill>
            <a:srgbClr val="FEEB9A"/>
          </a:solidFill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Seamless Beach Sand Texture | Sand textures, Photoshop textures, Beach sa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3419475"/>
            <a:ext cx="1962150" cy="1981200"/>
          </a:xfrm>
          <a:prstGeom prst="rect">
            <a:avLst/>
          </a:prstGeom>
          <a:solidFill>
            <a:srgbClr val="FEEB9A"/>
          </a:solidFill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Seamless Beach Sand Texture | Sand textures, Photoshop textures, Beach sa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3419475"/>
            <a:ext cx="1962150" cy="1981200"/>
          </a:xfrm>
          <a:prstGeom prst="rect">
            <a:avLst/>
          </a:prstGeom>
          <a:solidFill>
            <a:srgbClr val="FEEB9A"/>
          </a:solidFill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11642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1000" y="304800"/>
            <a:ext cx="1962150" cy="1971675"/>
          </a:xfrm>
          <a:prstGeom prst="rect">
            <a:avLst/>
          </a:prstGeom>
          <a:solidFill>
            <a:srgbClr val="7030A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tangle 5"/>
          <p:cNvSpPr/>
          <p:nvPr/>
        </p:nvSpPr>
        <p:spPr>
          <a:xfrm>
            <a:off x="2524125" y="304800"/>
            <a:ext cx="1962150" cy="1971675"/>
          </a:xfrm>
          <a:prstGeom prst="rect">
            <a:avLst/>
          </a:prstGeom>
          <a:solidFill>
            <a:srgbClr val="7030A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tangle 6"/>
          <p:cNvSpPr/>
          <p:nvPr/>
        </p:nvSpPr>
        <p:spPr>
          <a:xfrm>
            <a:off x="4686300" y="304800"/>
            <a:ext cx="1962150" cy="1971675"/>
          </a:xfrm>
          <a:prstGeom prst="rect">
            <a:avLst/>
          </a:prstGeom>
          <a:solidFill>
            <a:srgbClr val="0070C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tangle 7"/>
          <p:cNvSpPr/>
          <p:nvPr/>
        </p:nvSpPr>
        <p:spPr>
          <a:xfrm>
            <a:off x="6819900" y="304800"/>
            <a:ext cx="1962150" cy="1971675"/>
          </a:xfrm>
          <a:prstGeom prst="rect">
            <a:avLst/>
          </a:prstGeom>
          <a:solidFill>
            <a:srgbClr val="0070C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tangle 8"/>
          <p:cNvSpPr/>
          <p:nvPr/>
        </p:nvSpPr>
        <p:spPr>
          <a:xfrm>
            <a:off x="381000" y="3438525"/>
            <a:ext cx="1962150" cy="1971675"/>
          </a:xfrm>
          <a:prstGeom prst="rect">
            <a:avLst/>
          </a:prstGeom>
          <a:solidFill>
            <a:srgbClr val="00B05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tangle 9"/>
          <p:cNvSpPr/>
          <p:nvPr/>
        </p:nvSpPr>
        <p:spPr>
          <a:xfrm>
            <a:off x="2524125" y="3438525"/>
            <a:ext cx="1962150" cy="1971675"/>
          </a:xfrm>
          <a:prstGeom prst="rect">
            <a:avLst/>
          </a:prstGeom>
          <a:solidFill>
            <a:srgbClr val="00B05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tangle 10"/>
          <p:cNvSpPr/>
          <p:nvPr/>
        </p:nvSpPr>
        <p:spPr>
          <a:xfrm>
            <a:off x="4686300" y="3438525"/>
            <a:ext cx="1962150" cy="1971675"/>
          </a:xfrm>
          <a:prstGeom prst="rect">
            <a:avLst/>
          </a:prstGeom>
          <a:solidFill>
            <a:srgbClr val="00B05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tangle 11"/>
          <p:cNvSpPr/>
          <p:nvPr/>
        </p:nvSpPr>
        <p:spPr>
          <a:xfrm>
            <a:off x="6819900" y="3438525"/>
            <a:ext cx="1962150" cy="1971675"/>
          </a:xfrm>
          <a:prstGeom prst="rect">
            <a:avLst/>
          </a:prstGeom>
          <a:solidFill>
            <a:srgbClr val="00B05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79438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Seamless Beach Sand Texture | Sand textures, Photoshop textures, Beach sa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04800"/>
            <a:ext cx="1962150" cy="1981200"/>
          </a:xfrm>
          <a:prstGeom prst="rect">
            <a:avLst/>
          </a:prstGeom>
          <a:solidFill>
            <a:srgbClr val="FEEB9A"/>
          </a:solidFill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Seamless Beach Sand Texture | Sand textures, Photoshop textures, Beach sa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5" y="295275"/>
            <a:ext cx="1962150" cy="1981200"/>
          </a:xfrm>
          <a:prstGeom prst="rect">
            <a:avLst/>
          </a:prstGeom>
          <a:solidFill>
            <a:srgbClr val="FEEB9A"/>
          </a:solidFill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Seamless Beach Sand Texture | Sand textures, Photoshop textures, Beach sa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295275"/>
            <a:ext cx="1962150" cy="1981200"/>
          </a:xfrm>
          <a:prstGeom prst="rect">
            <a:avLst/>
          </a:prstGeom>
          <a:solidFill>
            <a:srgbClr val="FEEB9A"/>
          </a:solidFill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Seamless Beach Sand Texture | Sand textures, Photoshop textures, Beach sa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295275"/>
            <a:ext cx="1962150" cy="1981200"/>
          </a:xfrm>
          <a:prstGeom prst="rect">
            <a:avLst/>
          </a:prstGeom>
          <a:solidFill>
            <a:srgbClr val="FEEB9A"/>
          </a:solidFill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Seamless Beach Sand Texture | Sand textures, Photoshop textures, Beach sa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429000"/>
            <a:ext cx="1962150" cy="1981200"/>
          </a:xfrm>
          <a:prstGeom prst="rect">
            <a:avLst/>
          </a:prstGeom>
          <a:solidFill>
            <a:srgbClr val="FEEB9A"/>
          </a:solidFill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Seamless Beach Sand Texture | Sand textures, Photoshop textures, Beach sa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5" y="3419475"/>
            <a:ext cx="1962150" cy="1981200"/>
          </a:xfrm>
          <a:prstGeom prst="rect">
            <a:avLst/>
          </a:prstGeom>
          <a:solidFill>
            <a:srgbClr val="FEEB9A"/>
          </a:solidFill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Seamless Beach Sand Texture | Sand textures, Photoshop textures, Beach sa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3419475"/>
            <a:ext cx="1962150" cy="1981200"/>
          </a:xfrm>
          <a:prstGeom prst="rect">
            <a:avLst/>
          </a:prstGeom>
          <a:solidFill>
            <a:srgbClr val="FEEB9A"/>
          </a:solidFill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Seamless Beach Sand Texture | Sand textures, Photoshop textures, Beach sa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3419475"/>
            <a:ext cx="1962150" cy="1981200"/>
          </a:xfrm>
          <a:prstGeom prst="rect">
            <a:avLst/>
          </a:prstGeom>
          <a:solidFill>
            <a:srgbClr val="FEEB9A"/>
          </a:solidFill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9914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649</Words>
  <Application>Microsoft Office PowerPoint</Application>
  <PresentationFormat>On-screen Show (4:3)</PresentationFormat>
  <Paragraphs>213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Archeology in Mesopotamia</vt:lpstr>
      <vt:lpstr>Summary</vt:lpstr>
      <vt:lpstr>Game Modes</vt:lpstr>
      <vt:lpstr>Tutorial Intro</vt:lpstr>
      <vt:lpstr>PowerPoint Presentation</vt:lpstr>
      <vt:lpstr>PowerPoint Presentation</vt:lpstr>
      <vt:lpstr>The Museum</vt:lpstr>
      <vt:lpstr>Artifacts</vt:lpstr>
      <vt:lpstr>Sources of income</vt:lpstr>
      <vt:lpstr>Roles</vt:lpstr>
      <vt:lpstr>Map Screen</vt:lpstr>
      <vt:lpstr>Excavation Screen</vt:lpstr>
      <vt:lpstr>Data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excavation side</dc:title>
  <dc:creator>Mario Eckhardt</dc:creator>
  <cp:lastModifiedBy>Mario Eckhardt</cp:lastModifiedBy>
  <cp:revision>46</cp:revision>
  <dcterms:created xsi:type="dcterms:W3CDTF">2006-08-16T00:00:00Z</dcterms:created>
  <dcterms:modified xsi:type="dcterms:W3CDTF">2023-02-15T17:20:15Z</dcterms:modified>
</cp:coreProperties>
</file>